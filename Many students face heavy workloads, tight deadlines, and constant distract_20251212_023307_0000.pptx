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Work Sans Semi-Bold" charset="1" panose="00000000000000000000"/>
      <p:regular r:id="rId20"/>
    </p:embeddedFont>
    <p:embeddedFont>
      <p:font typeface="Work Sans Bold" charset="1" panose="00000000000000000000"/>
      <p:regular r:id="rId21"/>
    </p:embeddedFont>
    <p:embeddedFont>
      <p:font typeface="Work Sans"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2686050"/>
            <a:chOff x="0" y="0"/>
            <a:chExt cx="4987154" cy="790100"/>
          </a:xfrm>
        </p:grpSpPr>
        <p:sp>
          <p:nvSpPr>
            <p:cNvPr name="Freeform 3" id="3"/>
            <p:cNvSpPr/>
            <p:nvPr/>
          </p:nvSpPr>
          <p:spPr>
            <a:xfrm flipH="false" flipV="false" rot="0">
              <a:off x="0" y="0"/>
              <a:ext cx="4987156" cy="790100"/>
            </a:xfrm>
            <a:custGeom>
              <a:avLst/>
              <a:gdLst/>
              <a:ahLst/>
              <a:cxnLst/>
              <a:rect r="r" b="b" t="t" l="l"/>
              <a:pathLst>
                <a:path h="790100" w="4987156">
                  <a:moveTo>
                    <a:pt x="4640197" y="0"/>
                  </a:moveTo>
                  <a:lnTo>
                    <a:pt x="148415" y="0"/>
                  </a:lnTo>
                  <a:cubicBezTo>
                    <a:pt x="66448" y="0"/>
                    <a:pt x="0" y="66448"/>
                    <a:pt x="0" y="148415"/>
                  </a:cubicBezTo>
                  <a:lnTo>
                    <a:pt x="0" y="510707"/>
                  </a:lnTo>
                  <a:cubicBezTo>
                    <a:pt x="0" y="547218"/>
                    <a:pt x="13458" y="582448"/>
                    <a:pt x="37800" y="609659"/>
                  </a:cubicBezTo>
                  <a:lnTo>
                    <a:pt x="154967" y="740636"/>
                  </a:lnTo>
                  <a:cubicBezTo>
                    <a:pt x="183122" y="772111"/>
                    <a:pt x="223353" y="790101"/>
                    <a:pt x="265584" y="790100"/>
                  </a:cubicBezTo>
                  <a:lnTo>
                    <a:pt x="4838740" y="790100"/>
                  </a:lnTo>
                  <a:cubicBezTo>
                    <a:pt x="4878102" y="790100"/>
                    <a:pt x="4915853" y="774464"/>
                    <a:pt x="4943686" y="746630"/>
                  </a:cubicBezTo>
                  <a:cubicBezTo>
                    <a:pt x="4971519" y="718797"/>
                    <a:pt x="4987156" y="681047"/>
                    <a:pt x="4987156" y="641685"/>
                  </a:cubicBezTo>
                  <a:lnTo>
                    <a:pt x="4987156" y="366141"/>
                  </a:lnTo>
                  <a:cubicBezTo>
                    <a:pt x="4987156" y="329143"/>
                    <a:pt x="4973337" y="293478"/>
                    <a:pt x="4948407" y="266140"/>
                  </a:cubicBezTo>
                  <a:lnTo>
                    <a:pt x="4749864" y="48414"/>
                  </a:lnTo>
                  <a:cubicBezTo>
                    <a:pt x="4721742" y="17574"/>
                    <a:pt x="4681934" y="0"/>
                    <a:pt x="4640197" y="0"/>
                  </a:cubicBezTo>
                  <a:close/>
                </a:path>
              </a:pathLst>
            </a:custGeom>
            <a:solidFill>
              <a:srgbClr val="1473E6"/>
            </a:solidFill>
            <a:ln w="12700">
              <a:solidFill>
                <a:srgbClr val="000000"/>
              </a:solidFill>
            </a:ln>
          </p:spPr>
        </p:sp>
      </p:grpSp>
      <p:grpSp>
        <p:nvGrpSpPr>
          <p:cNvPr name="Group 4" id="4"/>
          <p:cNvGrpSpPr/>
          <p:nvPr/>
        </p:nvGrpSpPr>
        <p:grpSpPr>
          <a:xfrm rot="0">
            <a:off x="10734675" y="7834471"/>
            <a:ext cx="6886575" cy="1785779"/>
            <a:chOff x="0" y="0"/>
            <a:chExt cx="1813748" cy="470329"/>
          </a:xfrm>
        </p:grpSpPr>
        <p:sp>
          <p:nvSpPr>
            <p:cNvPr name="Freeform 5" id="5"/>
            <p:cNvSpPr/>
            <p:nvPr/>
          </p:nvSpPr>
          <p:spPr>
            <a:xfrm flipH="false" flipV="false" rot="0">
              <a:off x="0" y="0"/>
              <a:ext cx="1813748" cy="470329"/>
            </a:xfrm>
            <a:custGeom>
              <a:avLst/>
              <a:gdLst/>
              <a:ahLst/>
              <a:cxnLst/>
              <a:rect r="r" b="b" t="t" l="l"/>
              <a:pathLst>
                <a:path h="470329" w="1813748">
                  <a:moveTo>
                    <a:pt x="44968" y="0"/>
                  </a:moveTo>
                  <a:lnTo>
                    <a:pt x="1768780" y="0"/>
                  </a:lnTo>
                  <a:cubicBezTo>
                    <a:pt x="1780706" y="0"/>
                    <a:pt x="1792144" y="4738"/>
                    <a:pt x="1800577" y="13171"/>
                  </a:cubicBezTo>
                  <a:cubicBezTo>
                    <a:pt x="1809011" y="21604"/>
                    <a:pt x="1813748" y="33042"/>
                    <a:pt x="1813748" y="44968"/>
                  </a:cubicBezTo>
                  <a:lnTo>
                    <a:pt x="1813748" y="425360"/>
                  </a:lnTo>
                  <a:cubicBezTo>
                    <a:pt x="1813748" y="437287"/>
                    <a:pt x="1809011" y="448724"/>
                    <a:pt x="1800577" y="457158"/>
                  </a:cubicBezTo>
                  <a:cubicBezTo>
                    <a:pt x="1792144" y="465591"/>
                    <a:pt x="1780706" y="470329"/>
                    <a:pt x="1768780" y="470329"/>
                  </a:cubicBezTo>
                  <a:lnTo>
                    <a:pt x="44968" y="470329"/>
                  </a:lnTo>
                  <a:cubicBezTo>
                    <a:pt x="33042" y="470329"/>
                    <a:pt x="21604" y="465591"/>
                    <a:pt x="13171" y="457158"/>
                  </a:cubicBezTo>
                  <a:cubicBezTo>
                    <a:pt x="4738" y="448724"/>
                    <a:pt x="0" y="437287"/>
                    <a:pt x="0" y="425360"/>
                  </a:cubicBezTo>
                  <a:lnTo>
                    <a:pt x="0" y="44968"/>
                  </a:lnTo>
                  <a:cubicBezTo>
                    <a:pt x="0" y="33042"/>
                    <a:pt x="4738" y="21604"/>
                    <a:pt x="13171" y="13171"/>
                  </a:cubicBezTo>
                  <a:cubicBezTo>
                    <a:pt x="21604" y="4738"/>
                    <a:pt x="33042" y="0"/>
                    <a:pt x="44968" y="0"/>
                  </a:cubicBezTo>
                  <a:close/>
                </a:path>
              </a:pathLst>
            </a:custGeom>
            <a:solidFill>
              <a:srgbClr val="1473E6"/>
            </a:solidFill>
          </p:spPr>
        </p:sp>
        <p:sp>
          <p:nvSpPr>
            <p:cNvPr name="TextBox 6" id="6"/>
            <p:cNvSpPr txBox="true"/>
            <p:nvPr/>
          </p:nvSpPr>
          <p:spPr>
            <a:xfrm>
              <a:off x="0" y="-57150"/>
              <a:ext cx="1813748" cy="527479"/>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10734675" y="3657600"/>
            <a:ext cx="6886575" cy="3872071"/>
            <a:chOff x="0" y="0"/>
            <a:chExt cx="1066911" cy="599885"/>
          </a:xfrm>
        </p:grpSpPr>
        <p:sp>
          <p:nvSpPr>
            <p:cNvPr name="Freeform 8" id="8"/>
            <p:cNvSpPr/>
            <p:nvPr/>
          </p:nvSpPr>
          <p:spPr>
            <a:xfrm flipH="false" flipV="false" rot="0">
              <a:off x="0" y="0"/>
              <a:ext cx="1066911" cy="599885"/>
            </a:xfrm>
            <a:custGeom>
              <a:avLst/>
              <a:gdLst/>
              <a:ahLst/>
              <a:cxnLst/>
              <a:rect r="r" b="b" t="t" l="l"/>
              <a:pathLst>
                <a:path h="599885" w="1066911">
                  <a:moveTo>
                    <a:pt x="44968" y="0"/>
                  </a:moveTo>
                  <a:lnTo>
                    <a:pt x="1021942" y="0"/>
                  </a:lnTo>
                  <a:cubicBezTo>
                    <a:pt x="1033869" y="0"/>
                    <a:pt x="1045307" y="4738"/>
                    <a:pt x="1053740" y="13171"/>
                  </a:cubicBezTo>
                  <a:cubicBezTo>
                    <a:pt x="1062173" y="21604"/>
                    <a:pt x="1066911" y="33042"/>
                    <a:pt x="1066911" y="44968"/>
                  </a:cubicBezTo>
                  <a:lnTo>
                    <a:pt x="1066911" y="554917"/>
                  </a:lnTo>
                  <a:cubicBezTo>
                    <a:pt x="1066911" y="566843"/>
                    <a:pt x="1062173" y="578281"/>
                    <a:pt x="1053740" y="586714"/>
                  </a:cubicBezTo>
                  <a:cubicBezTo>
                    <a:pt x="1045307" y="595147"/>
                    <a:pt x="1033869" y="599885"/>
                    <a:pt x="1021942" y="599885"/>
                  </a:cubicBezTo>
                  <a:lnTo>
                    <a:pt x="44968" y="599885"/>
                  </a:lnTo>
                  <a:cubicBezTo>
                    <a:pt x="33042" y="599885"/>
                    <a:pt x="21604" y="595147"/>
                    <a:pt x="13171" y="586714"/>
                  </a:cubicBezTo>
                  <a:cubicBezTo>
                    <a:pt x="4738" y="578281"/>
                    <a:pt x="0" y="566843"/>
                    <a:pt x="0" y="554917"/>
                  </a:cubicBezTo>
                  <a:lnTo>
                    <a:pt x="0" y="44968"/>
                  </a:lnTo>
                  <a:cubicBezTo>
                    <a:pt x="0" y="33042"/>
                    <a:pt x="4738" y="21604"/>
                    <a:pt x="13171" y="13171"/>
                  </a:cubicBezTo>
                  <a:cubicBezTo>
                    <a:pt x="21604" y="4738"/>
                    <a:pt x="33042" y="0"/>
                    <a:pt x="44968" y="0"/>
                  </a:cubicBezTo>
                  <a:close/>
                </a:path>
              </a:pathLst>
            </a:custGeom>
            <a:blipFill>
              <a:blip r:embed="rId2"/>
              <a:stretch>
                <a:fillRect l="-202" t="0" r="-202" b="0"/>
              </a:stretch>
            </a:blipFill>
          </p:spPr>
        </p:sp>
      </p:grpSp>
      <p:grpSp>
        <p:nvGrpSpPr>
          <p:cNvPr name="Group 9" id="9"/>
          <p:cNvGrpSpPr/>
          <p:nvPr/>
        </p:nvGrpSpPr>
        <p:grpSpPr>
          <a:xfrm rot="0">
            <a:off x="666750" y="3657600"/>
            <a:ext cx="9763125" cy="5962650"/>
            <a:chOff x="0" y="0"/>
            <a:chExt cx="4083676" cy="2494030"/>
          </a:xfrm>
        </p:grpSpPr>
        <p:sp>
          <p:nvSpPr>
            <p:cNvPr name="Freeform 10" id="10"/>
            <p:cNvSpPr/>
            <p:nvPr/>
          </p:nvSpPr>
          <p:spPr>
            <a:xfrm flipH="false" flipV="false" rot="0">
              <a:off x="54483" y="50038"/>
              <a:ext cx="3974583" cy="2394589"/>
            </a:xfrm>
            <a:custGeom>
              <a:avLst/>
              <a:gdLst/>
              <a:ahLst/>
              <a:cxnLst/>
              <a:rect r="r" b="b" t="t" l="l"/>
              <a:pathLst>
                <a:path h="2394589" w="3974583">
                  <a:moveTo>
                    <a:pt x="3886953" y="2394589"/>
                  </a:moveTo>
                  <a:lnTo>
                    <a:pt x="87757" y="2394589"/>
                  </a:lnTo>
                  <a:cubicBezTo>
                    <a:pt x="39370" y="2394589"/>
                    <a:pt x="0" y="2355346"/>
                    <a:pt x="0" y="2306832"/>
                  </a:cubicBezTo>
                  <a:lnTo>
                    <a:pt x="0" y="87757"/>
                  </a:lnTo>
                  <a:cubicBezTo>
                    <a:pt x="0" y="39370"/>
                    <a:pt x="39243" y="0"/>
                    <a:pt x="87757" y="0"/>
                  </a:cubicBezTo>
                  <a:lnTo>
                    <a:pt x="3886826" y="0"/>
                  </a:lnTo>
                  <a:cubicBezTo>
                    <a:pt x="3935213" y="0"/>
                    <a:pt x="3974583" y="39243"/>
                    <a:pt x="3974583" y="87757"/>
                  </a:cubicBezTo>
                  <a:lnTo>
                    <a:pt x="3974583" y="2306832"/>
                  </a:lnTo>
                  <a:cubicBezTo>
                    <a:pt x="3974583" y="2355219"/>
                    <a:pt x="3935340" y="2394589"/>
                    <a:pt x="3886826" y="2394589"/>
                  </a:cubicBezTo>
                  <a:close/>
                </a:path>
              </a:pathLst>
            </a:custGeom>
            <a:blipFill>
              <a:blip r:embed="rId3"/>
              <a:stretch>
                <a:fillRect l="0" t="-209" r="0" b="-209"/>
              </a:stretch>
            </a:blipFill>
          </p:spPr>
        </p:sp>
        <p:sp>
          <p:nvSpPr>
            <p:cNvPr name="Freeform 11" id="11"/>
            <p:cNvSpPr/>
            <p:nvPr/>
          </p:nvSpPr>
          <p:spPr>
            <a:xfrm flipH="false" flipV="false" rot="0">
              <a:off x="0" y="0"/>
              <a:ext cx="4083549" cy="2493903"/>
            </a:xfrm>
            <a:custGeom>
              <a:avLst/>
              <a:gdLst/>
              <a:ahLst/>
              <a:cxnLst/>
              <a:rect r="r" b="b" t="t" l="l"/>
              <a:pathLst>
                <a:path h="2493903" w="4083549">
                  <a:moveTo>
                    <a:pt x="0" y="91567"/>
                  </a:moveTo>
                  <a:lnTo>
                    <a:pt x="0" y="2402337"/>
                  </a:lnTo>
                  <a:cubicBezTo>
                    <a:pt x="0" y="2452882"/>
                    <a:pt x="41021" y="2493903"/>
                    <a:pt x="91567" y="2493903"/>
                  </a:cubicBezTo>
                  <a:lnTo>
                    <a:pt x="3991982" y="2493903"/>
                  </a:lnTo>
                  <a:cubicBezTo>
                    <a:pt x="4042528" y="2493903"/>
                    <a:pt x="4083549" y="2452882"/>
                    <a:pt x="4083549" y="2402337"/>
                  </a:cubicBezTo>
                  <a:lnTo>
                    <a:pt x="4083549" y="91567"/>
                  </a:lnTo>
                  <a:cubicBezTo>
                    <a:pt x="4083549" y="41021"/>
                    <a:pt x="4042528" y="0"/>
                    <a:pt x="3991982" y="0"/>
                  </a:cubicBezTo>
                  <a:lnTo>
                    <a:pt x="91567" y="0"/>
                  </a:lnTo>
                  <a:cubicBezTo>
                    <a:pt x="41021" y="0"/>
                    <a:pt x="0" y="41021"/>
                    <a:pt x="0" y="91567"/>
                  </a:cubicBezTo>
                  <a:close/>
                  <a:moveTo>
                    <a:pt x="3241793" y="331724"/>
                  </a:moveTo>
                  <a:lnTo>
                    <a:pt x="3900923" y="331724"/>
                  </a:lnTo>
                  <a:cubicBezTo>
                    <a:pt x="3951469" y="331724"/>
                    <a:pt x="3992490" y="372745"/>
                    <a:pt x="3992490" y="423291"/>
                  </a:cubicBezTo>
                  <a:lnTo>
                    <a:pt x="3992490" y="2311277"/>
                  </a:lnTo>
                  <a:cubicBezTo>
                    <a:pt x="3992490" y="2361823"/>
                    <a:pt x="3951469" y="2402844"/>
                    <a:pt x="3900923" y="2402844"/>
                  </a:cubicBezTo>
                  <a:lnTo>
                    <a:pt x="182753" y="2402844"/>
                  </a:lnTo>
                  <a:cubicBezTo>
                    <a:pt x="132207" y="2402844"/>
                    <a:pt x="91186" y="2361823"/>
                    <a:pt x="91186" y="2311277"/>
                  </a:cubicBezTo>
                  <a:lnTo>
                    <a:pt x="91186" y="182753"/>
                  </a:lnTo>
                  <a:cubicBezTo>
                    <a:pt x="91186" y="132207"/>
                    <a:pt x="132207" y="91186"/>
                    <a:pt x="182753" y="91186"/>
                  </a:cubicBezTo>
                  <a:lnTo>
                    <a:pt x="2944740" y="91186"/>
                  </a:lnTo>
                  <a:cubicBezTo>
                    <a:pt x="2970775" y="91186"/>
                    <a:pt x="2995667" y="102235"/>
                    <a:pt x="3013066" y="121666"/>
                  </a:cubicBezTo>
                  <a:lnTo>
                    <a:pt x="3173721" y="301244"/>
                  </a:lnTo>
                  <a:cubicBezTo>
                    <a:pt x="3191120" y="320675"/>
                    <a:pt x="3215885" y="331724"/>
                    <a:pt x="3242047" y="331724"/>
                  </a:cubicBezTo>
                  <a:lnTo>
                    <a:pt x="3241793" y="331724"/>
                  </a:lnTo>
                  <a:close/>
                </a:path>
              </a:pathLst>
            </a:custGeom>
            <a:solidFill>
              <a:srgbClr val="F0F4F8"/>
            </a:solidFill>
          </p:spPr>
        </p:sp>
      </p:grpSp>
      <p:sp>
        <p:nvSpPr>
          <p:cNvPr name="Freeform 12" id="12"/>
          <p:cNvSpPr/>
          <p:nvPr/>
        </p:nvSpPr>
        <p:spPr>
          <a:xfrm flipH="false" flipV="false" rot="0">
            <a:off x="15220953" y="1376364"/>
            <a:ext cx="1266822" cy="1266822"/>
          </a:xfrm>
          <a:custGeom>
            <a:avLst/>
            <a:gdLst/>
            <a:ahLst/>
            <a:cxnLst/>
            <a:rect r="r" b="b" t="t" l="l"/>
            <a:pathLst>
              <a:path h="1266822" w="1266822">
                <a:moveTo>
                  <a:pt x="0" y="0"/>
                </a:moveTo>
                <a:lnTo>
                  <a:pt x="1266822" y="0"/>
                </a:lnTo>
                <a:lnTo>
                  <a:pt x="1266822" y="1266822"/>
                </a:lnTo>
                <a:lnTo>
                  <a:pt x="0" y="1266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320434" y="1570221"/>
            <a:ext cx="13424266" cy="1035051"/>
          </a:xfrm>
          <a:prstGeom prst="rect">
            <a:avLst/>
          </a:prstGeom>
        </p:spPr>
        <p:txBody>
          <a:bodyPr anchor="t" rtlCol="false" tIns="0" lIns="0" bIns="0" rIns="0">
            <a:spAutoFit/>
          </a:bodyPr>
          <a:lstStyle/>
          <a:p>
            <a:pPr algn="l" marL="0" indent="0" lvl="0">
              <a:lnSpc>
                <a:spcPts val="7600"/>
              </a:lnSpc>
            </a:pPr>
            <a:r>
              <a:rPr lang="en-US" b="true" sz="8000" spc="-440">
                <a:solidFill>
                  <a:srgbClr val="F0F4F8"/>
                </a:solidFill>
                <a:latin typeface="Work Sans Semi-Bold"/>
                <a:ea typeface="Work Sans Semi-Bold"/>
                <a:cs typeface="Work Sans Semi-Bold"/>
                <a:sym typeface="Work Sans Semi-Bold"/>
              </a:rPr>
              <a:t>FOCUS</a:t>
            </a:r>
          </a:p>
        </p:txBody>
      </p:sp>
      <p:grpSp>
        <p:nvGrpSpPr>
          <p:cNvPr name="Group 14" id="14"/>
          <p:cNvGrpSpPr/>
          <p:nvPr/>
        </p:nvGrpSpPr>
        <p:grpSpPr>
          <a:xfrm rot="0">
            <a:off x="11388359" y="8167816"/>
            <a:ext cx="5603210" cy="999890"/>
            <a:chOff x="0" y="0"/>
            <a:chExt cx="7470947" cy="1333187"/>
          </a:xfrm>
        </p:grpSpPr>
        <p:sp>
          <p:nvSpPr>
            <p:cNvPr name="TextBox 15" id="15"/>
            <p:cNvSpPr txBox="true"/>
            <p:nvPr/>
          </p:nvSpPr>
          <p:spPr>
            <a:xfrm rot="0">
              <a:off x="0" y="-47625"/>
              <a:ext cx="7470947" cy="657225"/>
            </a:xfrm>
            <a:prstGeom prst="rect">
              <a:avLst/>
            </a:prstGeom>
          </p:spPr>
          <p:txBody>
            <a:bodyPr anchor="t" rtlCol="false" tIns="0" lIns="0" bIns="0" rIns="0">
              <a:spAutoFit/>
            </a:bodyPr>
            <a:lstStyle/>
            <a:p>
              <a:pPr algn="l" marL="0" indent="0" lvl="0">
                <a:lnSpc>
                  <a:spcPts val="3900"/>
                </a:lnSpc>
              </a:pPr>
              <a:r>
                <a:rPr lang="en-US" b="true" sz="3000" spc="-165">
                  <a:solidFill>
                    <a:srgbClr val="F0F4F8"/>
                  </a:solidFill>
                  <a:latin typeface="Work Sans Semi-Bold"/>
                  <a:ea typeface="Work Sans Semi-Bold"/>
                  <a:cs typeface="Work Sans Semi-Bold"/>
                  <a:sym typeface="Work Sans Semi-Bold"/>
                </a:rPr>
                <a:t>Presented by</a:t>
              </a:r>
            </a:p>
          </p:txBody>
        </p:sp>
        <p:sp>
          <p:nvSpPr>
            <p:cNvPr name="TextBox 16" id="16"/>
            <p:cNvSpPr txBox="true"/>
            <p:nvPr/>
          </p:nvSpPr>
          <p:spPr>
            <a:xfrm rot="0">
              <a:off x="0" y="675962"/>
              <a:ext cx="7470947" cy="657225"/>
            </a:xfrm>
            <a:prstGeom prst="rect">
              <a:avLst/>
            </a:prstGeom>
          </p:spPr>
          <p:txBody>
            <a:bodyPr anchor="t" rtlCol="false" tIns="0" lIns="0" bIns="0" rIns="0">
              <a:spAutoFit/>
            </a:bodyPr>
            <a:lstStyle/>
            <a:p>
              <a:pPr algn="l" marL="0" indent="0" lvl="0">
                <a:lnSpc>
                  <a:spcPts val="3900"/>
                </a:lnSpc>
              </a:pPr>
              <a:r>
                <a:rPr lang="en-US" b="true" sz="3000" spc="-165">
                  <a:solidFill>
                    <a:srgbClr val="F0F4F8"/>
                  </a:solidFill>
                  <a:latin typeface="Work Sans Bold"/>
                  <a:ea typeface="Work Sans Bold"/>
                  <a:cs typeface="Work Sans Bold"/>
                  <a:sym typeface="Work Sans Bold"/>
                </a:rPr>
                <a:t>﻿N. Jagadish &amp; Team</a:t>
              </a:r>
            </a:p>
          </p:txBody>
        </p:sp>
      </p:grpSp>
      <p:sp>
        <p:nvSpPr>
          <p:cNvPr name="TextBox 17" id="17"/>
          <p:cNvSpPr txBox="true"/>
          <p:nvPr/>
        </p:nvSpPr>
        <p:spPr>
          <a:xfrm rot="0">
            <a:off x="3354762" y="1892484"/>
            <a:ext cx="11466138" cy="561975"/>
          </a:xfrm>
          <a:prstGeom prst="rect">
            <a:avLst/>
          </a:prstGeom>
        </p:spPr>
        <p:txBody>
          <a:bodyPr anchor="t" rtlCol="false" tIns="0" lIns="0" bIns="0" rIns="0">
            <a:spAutoFit/>
          </a:bodyPr>
          <a:lstStyle/>
          <a:p>
            <a:pPr algn="ctr">
              <a:lnSpc>
                <a:spcPts val="4320"/>
              </a:lnSpc>
              <a:spcBef>
                <a:spcPct val="0"/>
              </a:spcBef>
            </a:pPr>
            <a:r>
              <a:rPr lang="en-US" b="true" sz="3600" spc="-197">
                <a:solidFill>
                  <a:srgbClr val="F0F4F8"/>
                </a:solidFill>
                <a:latin typeface="Work Sans Bold"/>
                <a:ea typeface="Work Sans Bold"/>
                <a:cs typeface="Work Sans Bold"/>
                <a:sym typeface="Work Sans Bold"/>
              </a:rPr>
              <a:t>Student Productivity &amp; AI Study Assistant.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1473E6"/>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F0F4F8"/>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9881936" y="1190507"/>
            <a:ext cx="7153778" cy="7905985"/>
            <a:chOff x="0" y="0"/>
            <a:chExt cx="1935901" cy="2139458"/>
          </a:xfrm>
        </p:grpSpPr>
        <p:sp>
          <p:nvSpPr>
            <p:cNvPr name="Freeform 8" id="8"/>
            <p:cNvSpPr/>
            <p:nvPr/>
          </p:nvSpPr>
          <p:spPr>
            <a:xfrm flipH="false" flipV="false" rot="0">
              <a:off x="0" y="0"/>
              <a:ext cx="1935903" cy="2139471"/>
            </a:xfrm>
            <a:custGeom>
              <a:avLst/>
              <a:gdLst/>
              <a:ahLst/>
              <a:cxnLst/>
              <a:rect r="r" b="b" t="t" l="l"/>
              <a:pathLst>
                <a:path h="2139471" w="1935903">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0" t="-130" r="0" b="-130"/>
              </a:stretch>
            </a:blipFill>
          </p:spPr>
        </p:sp>
      </p:grpSp>
      <p:grpSp>
        <p:nvGrpSpPr>
          <p:cNvPr name="Group 9" id="9"/>
          <p:cNvGrpSpPr/>
          <p:nvPr/>
        </p:nvGrpSpPr>
        <p:grpSpPr>
          <a:xfrm rot="0">
            <a:off x="2105025" y="1562100"/>
            <a:ext cx="5448300" cy="6498063"/>
            <a:chOff x="0" y="0"/>
            <a:chExt cx="7264400" cy="8664084"/>
          </a:xfrm>
        </p:grpSpPr>
        <p:sp>
          <p:nvSpPr>
            <p:cNvPr name="TextBox 10" id="10"/>
            <p:cNvSpPr txBox="true"/>
            <p:nvPr/>
          </p:nvSpPr>
          <p:spPr>
            <a:xfrm rot="0">
              <a:off x="50129" y="5927869"/>
              <a:ext cx="7214271" cy="2736215"/>
            </a:xfrm>
            <a:prstGeom prst="rect">
              <a:avLst/>
            </a:prstGeom>
          </p:spPr>
          <p:txBody>
            <a:bodyPr anchor="t" rtlCol="false" tIns="0" lIns="0" bIns="0" rIns="0">
              <a:spAutoFit/>
            </a:bodyPr>
            <a:lstStyle/>
            <a:p>
              <a:pPr algn="l" marL="0" indent="0" lvl="0">
                <a:lnSpc>
                  <a:spcPts val="2730"/>
                </a:lnSpc>
              </a:pPr>
              <a:r>
                <a:rPr lang="en-US" sz="2100" spc="-115">
                  <a:solidFill>
                    <a:srgbClr val="F0F4F8"/>
                  </a:solidFill>
                  <a:latin typeface="Work Sans"/>
                  <a:ea typeface="Work Sans"/>
                  <a:cs typeface="Work Sans"/>
                  <a:sym typeface="Work Sans"/>
                </a:rPr>
                <a:t>Many students face </a:t>
              </a:r>
              <a:r>
                <a:rPr lang="en-US" b="true" sz="2100" spc="-115">
                  <a:solidFill>
                    <a:srgbClr val="F0F4F8"/>
                  </a:solidFill>
                  <a:latin typeface="Work Sans Bold"/>
                  <a:ea typeface="Work Sans Bold"/>
                  <a:cs typeface="Work Sans Bold"/>
                  <a:sym typeface="Work Sans Bold"/>
                </a:rPr>
                <a:t>heavy workloads, tight deadlines, and constant distractions</a:t>
              </a:r>
              <a:r>
                <a:rPr lang="en-US" sz="2100" spc="-115">
                  <a:solidFill>
                    <a:srgbClr val="F0F4F8"/>
                  </a:solidFill>
                  <a:latin typeface="Work Sans"/>
                  <a:ea typeface="Work Sans"/>
                  <a:cs typeface="Work Sans"/>
                  <a:sym typeface="Work Sans"/>
                </a:rPr>
                <a:t>, which reduce </a:t>
              </a:r>
              <a:r>
                <a:rPr lang="en-US" b="true" sz="2100" spc="-115">
                  <a:solidFill>
                    <a:srgbClr val="F0F4F8"/>
                  </a:solidFill>
                  <a:latin typeface="Work Sans Bold"/>
                  <a:ea typeface="Work Sans Bold"/>
                  <a:cs typeface="Work Sans Bold"/>
                  <a:sym typeface="Work Sans Bold"/>
                </a:rPr>
                <a:t>productivity</a:t>
              </a:r>
              <a:r>
                <a:rPr lang="en-US" sz="2100" spc="-115">
                  <a:solidFill>
                    <a:srgbClr val="F0F4F8"/>
                  </a:solidFill>
                  <a:latin typeface="Work Sans"/>
                  <a:ea typeface="Work Sans"/>
                  <a:cs typeface="Work Sans"/>
                  <a:sym typeface="Work Sans"/>
                </a:rPr>
                <a:t> and increase </a:t>
              </a:r>
              <a:r>
                <a:rPr lang="en-US" b="true" sz="2100" spc="-115">
                  <a:solidFill>
                    <a:srgbClr val="F0F4F8"/>
                  </a:solidFill>
                  <a:latin typeface="Work Sans Bold"/>
                  <a:ea typeface="Work Sans Bold"/>
                  <a:cs typeface="Work Sans Bold"/>
                  <a:sym typeface="Work Sans Bold"/>
                </a:rPr>
                <a:t>stress</a:t>
              </a:r>
              <a:r>
                <a:rPr lang="en-US" sz="2100" spc="-115">
                  <a:solidFill>
                    <a:srgbClr val="F0F4F8"/>
                  </a:solidFill>
                  <a:latin typeface="Work Sans"/>
                  <a:ea typeface="Work Sans"/>
                  <a:cs typeface="Work Sans"/>
                  <a:sym typeface="Work Sans"/>
                </a:rPr>
                <a:t>.</a:t>
              </a:r>
            </a:p>
            <a:p>
              <a:pPr algn="l" marL="0" indent="0" lvl="0">
                <a:lnSpc>
                  <a:spcPts val="2730"/>
                </a:lnSpc>
              </a:pPr>
              <a:r>
                <a:rPr lang="en-US" sz="2100" spc="-115">
                  <a:solidFill>
                    <a:srgbClr val="F0F4F8"/>
                  </a:solidFill>
                  <a:latin typeface="Work Sans"/>
                  <a:ea typeface="Work Sans"/>
                  <a:cs typeface="Work Sans"/>
                  <a:sym typeface="Work Sans"/>
                </a:rPr>
                <a:t>Finding an efficient and organized study method is essential for academic success.</a:t>
              </a:r>
            </a:p>
            <a:p>
              <a:pPr algn="l" marL="0" indent="0" lvl="0">
                <a:lnSpc>
                  <a:spcPts val="2730"/>
                </a:lnSpc>
              </a:pPr>
            </a:p>
          </p:txBody>
        </p:sp>
        <p:sp>
          <p:nvSpPr>
            <p:cNvPr name="TextBox 11" id="11"/>
            <p:cNvSpPr txBox="true"/>
            <p:nvPr/>
          </p:nvSpPr>
          <p:spPr>
            <a:xfrm rot="0">
              <a:off x="0" y="133350"/>
              <a:ext cx="7264400" cy="36470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F0F4F8"/>
                  </a:solidFill>
                  <a:latin typeface="Work Sans Semi-Bold"/>
                  <a:ea typeface="Work Sans Semi-Bold"/>
                  <a:cs typeface="Work Sans Semi-Bold"/>
                  <a:sym typeface="Work Sans Semi-Bold"/>
                </a:rPr>
                <a:t>Challenges Students Face</a:t>
              </a:r>
            </a:p>
          </p:txBody>
        </p:sp>
        <p:sp>
          <p:nvSpPr>
            <p:cNvPr name="TextBox 12" id="12"/>
            <p:cNvSpPr txBox="true"/>
            <p:nvPr/>
          </p:nvSpPr>
          <p:spPr>
            <a:xfrm rot="0">
              <a:off x="0" y="4100127"/>
              <a:ext cx="7264400" cy="1238250"/>
            </a:xfrm>
            <a:prstGeom prst="rect">
              <a:avLst/>
            </a:prstGeom>
          </p:spPr>
          <p:txBody>
            <a:bodyPr anchor="t" rtlCol="false" tIns="0" lIns="0" bIns="0" rIns="0">
              <a:spAutoFit/>
            </a:bodyPr>
            <a:lstStyle/>
            <a:p>
              <a:pPr algn="l" marL="0" indent="0" lvl="0">
                <a:lnSpc>
                  <a:spcPts val="3600"/>
                </a:lnSpc>
                <a:spcBef>
                  <a:spcPct val="0"/>
                </a:spcBef>
              </a:pPr>
              <a:r>
                <a:rPr lang="en-US" sz="3000" spc="-165" strike="noStrike" u="none">
                  <a:solidFill>
                    <a:srgbClr val="F0F4F8"/>
                  </a:solidFill>
                  <a:latin typeface="Work Sans"/>
                  <a:ea typeface="Work Sans"/>
                  <a:cs typeface="Work Sans"/>
                  <a:sym typeface="Work Sans"/>
                </a:rPr>
                <a:t>Understanding their daily struggles</a:t>
              </a:r>
            </a:p>
          </p:txBody>
        </p:sp>
      </p:grpSp>
      <p:sp>
        <p:nvSpPr>
          <p:cNvPr name="Freeform 13" id="13"/>
          <p:cNvSpPr/>
          <p:nvPr/>
        </p:nvSpPr>
        <p:spPr>
          <a:xfrm flipH="false" flipV="false" rot="0">
            <a:off x="2038722" y="7920205"/>
            <a:ext cx="3587894" cy="1319162"/>
          </a:xfrm>
          <a:custGeom>
            <a:avLst/>
            <a:gdLst/>
            <a:ahLst/>
            <a:cxnLst/>
            <a:rect r="r" b="b" t="t" l="l"/>
            <a:pathLst>
              <a:path h="1319162" w="3587894">
                <a:moveTo>
                  <a:pt x="0" y="0"/>
                </a:moveTo>
                <a:lnTo>
                  <a:pt x="3587894" y="0"/>
                </a:lnTo>
                <a:lnTo>
                  <a:pt x="3587894" y="1319163"/>
                </a:lnTo>
                <a:lnTo>
                  <a:pt x="0" y="1319163"/>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1473E6"/>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F0F4F8"/>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9881936" y="1190507"/>
            <a:ext cx="7153778" cy="7905985"/>
            <a:chOff x="0" y="0"/>
            <a:chExt cx="1935901" cy="2139458"/>
          </a:xfrm>
        </p:grpSpPr>
        <p:sp>
          <p:nvSpPr>
            <p:cNvPr name="Freeform 8" id="8"/>
            <p:cNvSpPr/>
            <p:nvPr/>
          </p:nvSpPr>
          <p:spPr>
            <a:xfrm flipH="false" flipV="false" rot="0">
              <a:off x="0" y="0"/>
              <a:ext cx="1935903" cy="2139471"/>
            </a:xfrm>
            <a:custGeom>
              <a:avLst/>
              <a:gdLst/>
              <a:ahLst/>
              <a:cxnLst/>
              <a:rect r="r" b="b" t="t" l="l"/>
              <a:pathLst>
                <a:path h="2139471" w="1935903">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0" t="-130" r="0" b="-130"/>
              </a:stretch>
            </a:blipFill>
          </p:spPr>
        </p:sp>
      </p:grpSp>
      <p:sp>
        <p:nvSpPr>
          <p:cNvPr name="Freeform 9" id="9"/>
          <p:cNvSpPr/>
          <p:nvPr/>
        </p:nvSpPr>
        <p:spPr>
          <a:xfrm flipH="false" flipV="false" rot="0">
            <a:off x="2105025" y="6061206"/>
            <a:ext cx="2513161" cy="2074355"/>
          </a:xfrm>
          <a:custGeom>
            <a:avLst/>
            <a:gdLst/>
            <a:ahLst/>
            <a:cxnLst/>
            <a:rect r="r" b="b" t="t" l="l"/>
            <a:pathLst>
              <a:path h="2074355" w="2513161">
                <a:moveTo>
                  <a:pt x="0" y="0"/>
                </a:moveTo>
                <a:lnTo>
                  <a:pt x="2513161" y="0"/>
                </a:lnTo>
                <a:lnTo>
                  <a:pt x="2513161" y="2074355"/>
                </a:lnTo>
                <a:lnTo>
                  <a:pt x="0" y="2074355"/>
                </a:lnTo>
                <a:lnTo>
                  <a:pt x="0" y="0"/>
                </a:lnTo>
                <a:close/>
              </a:path>
            </a:pathLst>
          </a:custGeom>
          <a:blipFill>
            <a:blip r:embed="rId3"/>
            <a:stretch>
              <a:fillRect l="0" t="0" r="0" b="0"/>
            </a:stretch>
          </a:blipFill>
        </p:spPr>
      </p:sp>
      <p:grpSp>
        <p:nvGrpSpPr>
          <p:cNvPr name="Group 10" id="10"/>
          <p:cNvGrpSpPr/>
          <p:nvPr/>
        </p:nvGrpSpPr>
        <p:grpSpPr>
          <a:xfrm rot="0">
            <a:off x="2105025" y="1562100"/>
            <a:ext cx="5448300" cy="4726413"/>
            <a:chOff x="0" y="0"/>
            <a:chExt cx="7264400" cy="6301884"/>
          </a:xfrm>
        </p:grpSpPr>
        <p:sp>
          <p:nvSpPr>
            <p:cNvPr name="TextBox 11" id="11"/>
            <p:cNvSpPr txBox="true"/>
            <p:nvPr/>
          </p:nvSpPr>
          <p:spPr>
            <a:xfrm rot="0">
              <a:off x="50129" y="3565669"/>
              <a:ext cx="7214271" cy="2736215"/>
            </a:xfrm>
            <a:prstGeom prst="rect">
              <a:avLst/>
            </a:prstGeom>
          </p:spPr>
          <p:txBody>
            <a:bodyPr anchor="t" rtlCol="false" tIns="0" lIns="0" bIns="0" rIns="0">
              <a:spAutoFit/>
            </a:bodyPr>
            <a:lstStyle/>
            <a:p>
              <a:pPr algn="l">
                <a:lnSpc>
                  <a:spcPts val="2730"/>
                </a:lnSpc>
              </a:pPr>
              <a:r>
                <a:rPr lang="en-US" sz="2100" spc="-115">
                  <a:solidFill>
                    <a:srgbClr val="F0F4F8"/>
                  </a:solidFill>
                  <a:latin typeface="Work Sans"/>
                  <a:ea typeface="Work Sans"/>
                  <a:cs typeface="Work Sans"/>
                  <a:sym typeface="Work Sans"/>
                </a:rPr>
                <a:t>Our </a:t>
              </a:r>
              <a:r>
                <a:rPr lang="en-US" sz="2100" spc="-115" b="true">
                  <a:solidFill>
                    <a:srgbClr val="F0F4F8"/>
                  </a:solidFill>
                  <a:latin typeface="Work Sans Bold"/>
                  <a:ea typeface="Work Sans Bold"/>
                  <a:cs typeface="Work Sans Bold"/>
                  <a:sym typeface="Work Sans Bold"/>
                </a:rPr>
                <a:t>AI-powered assistant</a:t>
              </a:r>
              <a:r>
                <a:rPr lang="en-US" sz="2100" spc="-115">
                  <a:solidFill>
                    <a:srgbClr val="F0F4F8"/>
                  </a:solidFill>
                  <a:latin typeface="Work Sans"/>
                  <a:ea typeface="Work Sans"/>
                  <a:cs typeface="Work Sans"/>
                  <a:sym typeface="Work Sans"/>
                </a:rPr>
                <a:t> helps students improve productivity by offering personalized study plans, real-time support, and smart tools designed to simplify learning and boost outcomes.</a:t>
              </a:r>
            </a:p>
            <a:p>
              <a:pPr algn="l" marL="0" indent="0" lvl="0">
                <a:lnSpc>
                  <a:spcPts val="2730"/>
                </a:lnSpc>
              </a:pPr>
            </a:p>
          </p:txBody>
        </p:sp>
        <p:sp>
          <p:nvSpPr>
            <p:cNvPr name="TextBox 12" id="12"/>
            <p:cNvSpPr txBox="true"/>
            <p:nvPr/>
          </p:nvSpPr>
          <p:spPr>
            <a:xfrm rot="0">
              <a:off x="0" y="133350"/>
              <a:ext cx="7264400" cy="12848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F0F4F8"/>
                  </a:solidFill>
                  <a:latin typeface="Work Sans Semi-Bold"/>
                  <a:ea typeface="Work Sans Semi-Bold"/>
                  <a:cs typeface="Work Sans Semi-Bold"/>
                  <a:sym typeface="Work Sans Semi-Bold"/>
                </a:rPr>
                <a:t>Our Solution</a:t>
              </a:r>
            </a:p>
          </p:txBody>
        </p:sp>
        <p:sp>
          <p:nvSpPr>
            <p:cNvPr name="TextBox 13" id="13"/>
            <p:cNvSpPr txBox="true"/>
            <p:nvPr/>
          </p:nvSpPr>
          <p:spPr>
            <a:xfrm rot="0">
              <a:off x="0" y="1737927"/>
              <a:ext cx="7264400" cy="1238250"/>
            </a:xfrm>
            <a:prstGeom prst="rect">
              <a:avLst/>
            </a:prstGeom>
          </p:spPr>
          <p:txBody>
            <a:bodyPr anchor="t" rtlCol="false" tIns="0" lIns="0" bIns="0" rIns="0">
              <a:spAutoFit/>
            </a:bodyPr>
            <a:lstStyle/>
            <a:p>
              <a:pPr algn="l" marL="0" indent="0" lvl="0">
                <a:lnSpc>
                  <a:spcPts val="3600"/>
                </a:lnSpc>
                <a:spcBef>
                  <a:spcPct val="0"/>
                </a:spcBef>
              </a:pPr>
              <a:r>
                <a:rPr lang="en-US" sz="3000" spc="-165" strike="noStrike" u="none">
                  <a:solidFill>
                    <a:srgbClr val="F0F4F8"/>
                  </a:solidFill>
                  <a:latin typeface="Work Sans"/>
                  <a:ea typeface="Work Sans"/>
                  <a:cs typeface="Work Sans"/>
                  <a:sym typeface="Work Sans"/>
                </a:rPr>
                <a:t>AI-Powered Study Assistance Tool</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3657600"/>
            <a:ext cx="8320176" cy="2827337"/>
            <a:chOff x="0" y="0"/>
            <a:chExt cx="2192553" cy="745067"/>
          </a:xfrm>
        </p:grpSpPr>
        <p:sp>
          <p:nvSpPr>
            <p:cNvPr name="Freeform 3" id="3"/>
            <p:cNvSpPr/>
            <p:nvPr/>
          </p:nvSpPr>
          <p:spPr>
            <a:xfrm flipH="false" flipV="false" rot="0">
              <a:off x="0" y="0"/>
              <a:ext cx="2192553" cy="745067"/>
            </a:xfrm>
            <a:custGeom>
              <a:avLst/>
              <a:gdLst/>
              <a:ahLst/>
              <a:cxnLst/>
              <a:rect r="r" b="b" t="t" l="l"/>
              <a:pathLst>
                <a:path h="745067" w="2192553">
                  <a:moveTo>
                    <a:pt x="37220" y="0"/>
                  </a:moveTo>
                  <a:lnTo>
                    <a:pt x="2155333" y="0"/>
                  </a:lnTo>
                  <a:cubicBezTo>
                    <a:pt x="2175889" y="0"/>
                    <a:pt x="2192553" y="16664"/>
                    <a:pt x="2192553" y="37220"/>
                  </a:cubicBezTo>
                  <a:lnTo>
                    <a:pt x="2192553" y="707847"/>
                  </a:lnTo>
                  <a:cubicBezTo>
                    <a:pt x="2192553" y="728403"/>
                    <a:pt x="2175889" y="745067"/>
                    <a:pt x="2155333" y="745067"/>
                  </a:cubicBezTo>
                  <a:lnTo>
                    <a:pt x="37220" y="745067"/>
                  </a:lnTo>
                  <a:cubicBezTo>
                    <a:pt x="16664" y="745067"/>
                    <a:pt x="0" y="728403"/>
                    <a:pt x="0" y="707847"/>
                  </a:cubicBezTo>
                  <a:lnTo>
                    <a:pt x="0" y="37220"/>
                  </a:lnTo>
                  <a:cubicBezTo>
                    <a:pt x="0" y="16664"/>
                    <a:pt x="16664" y="0"/>
                    <a:pt x="37220" y="0"/>
                  </a:cubicBezTo>
                  <a:close/>
                </a:path>
              </a:pathLst>
            </a:custGeom>
            <a:solidFill>
              <a:srgbClr val="F0F4F8"/>
            </a:solidFill>
          </p:spPr>
        </p:sp>
        <p:sp>
          <p:nvSpPr>
            <p:cNvPr name="TextBox 4" id="4"/>
            <p:cNvSpPr txBox="true"/>
            <p:nvPr/>
          </p:nvSpPr>
          <p:spPr>
            <a:xfrm>
              <a:off x="0" y="-57150"/>
              <a:ext cx="2192553" cy="802217"/>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666750" y="6789565"/>
            <a:ext cx="8320176" cy="2827337"/>
            <a:chOff x="0" y="0"/>
            <a:chExt cx="2192553" cy="745067"/>
          </a:xfrm>
        </p:grpSpPr>
        <p:sp>
          <p:nvSpPr>
            <p:cNvPr name="Freeform 6" id="6"/>
            <p:cNvSpPr/>
            <p:nvPr/>
          </p:nvSpPr>
          <p:spPr>
            <a:xfrm flipH="false" flipV="false" rot="0">
              <a:off x="0" y="0"/>
              <a:ext cx="2192553" cy="745067"/>
            </a:xfrm>
            <a:custGeom>
              <a:avLst/>
              <a:gdLst/>
              <a:ahLst/>
              <a:cxnLst/>
              <a:rect r="r" b="b" t="t" l="l"/>
              <a:pathLst>
                <a:path h="745067" w="2192553">
                  <a:moveTo>
                    <a:pt x="37220" y="0"/>
                  </a:moveTo>
                  <a:lnTo>
                    <a:pt x="2155333" y="0"/>
                  </a:lnTo>
                  <a:cubicBezTo>
                    <a:pt x="2175889" y="0"/>
                    <a:pt x="2192553" y="16664"/>
                    <a:pt x="2192553" y="37220"/>
                  </a:cubicBezTo>
                  <a:lnTo>
                    <a:pt x="2192553" y="707847"/>
                  </a:lnTo>
                  <a:cubicBezTo>
                    <a:pt x="2192553" y="728403"/>
                    <a:pt x="2175889" y="745067"/>
                    <a:pt x="2155333" y="745067"/>
                  </a:cubicBezTo>
                  <a:lnTo>
                    <a:pt x="37220" y="745067"/>
                  </a:lnTo>
                  <a:cubicBezTo>
                    <a:pt x="16664" y="745067"/>
                    <a:pt x="0" y="728403"/>
                    <a:pt x="0" y="707847"/>
                  </a:cubicBezTo>
                  <a:lnTo>
                    <a:pt x="0" y="37220"/>
                  </a:lnTo>
                  <a:cubicBezTo>
                    <a:pt x="0" y="16664"/>
                    <a:pt x="16664" y="0"/>
                    <a:pt x="37220" y="0"/>
                  </a:cubicBezTo>
                  <a:close/>
                </a:path>
              </a:pathLst>
            </a:custGeom>
            <a:solidFill>
              <a:srgbClr val="F0F4F8"/>
            </a:solidFill>
          </p:spPr>
        </p:sp>
        <p:sp>
          <p:nvSpPr>
            <p:cNvPr name="TextBox 7" id="7"/>
            <p:cNvSpPr txBox="true"/>
            <p:nvPr/>
          </p:nvSpPr>
          <p:spPr>
            <a:xfrm>
              <a:off x="0" y="-57150"/>
              <a:ext cx="2192553" cy="802217"/>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9291555" y="3657600"/>
            <a:ext cx="8329695" cy="2827337"/>
            <a:chOff x="0" y="0"/>
            <a:chExt cx="2195062" cy="745067"/>
          </a:xfrm>
        </p:grpSpPr>
        <p:sp>
          <p:nvSpPr>
            <p:cNvPr name="Freeform 9" id="9"/>
            <p:cNvSpPr/>
            <p:nvPr/>
          </p:nvSpPr>
          <p:spPr>
            <a:xfrm flipH="false" flipV="false" rot="0">
              <a:off x="0" y="0"/>
              <a:ext cx="2195062" cy="745067"/>
            </a:xfrm>
            <a:custGeom>
              <a:avLst/>
              <a:gdLst/>
              <a:ahLst/>
              <a:cxnLst/>
              <a:rect r="r" b="b" t="t" l="l"/>
              <a:pathLst>
                <a:path h="745067" w="2195062">
                  <a:moveTo>
                    <a:pt x="37177" y="0"/>
                  </a:moveTo>
                  <a:lnTo>
                    <a:pt x="2157884" y="0"/>
                  </a:lnTo>
                  <a:cubicBezTo>
                    <a:pt x="2178417" y="0"/>
                    <a:pt x="2195062" y="16645"/>
                    <a:pt x="2195062" y="37177"/>
                  </a:cubicBezTo>
                  <a:lnTo>
                    <a:pt x="2195062" y="707889"/>
                  </a:lnTo>
                  <a:cubicBezTo>
                    <a:pt x="2195062" y="728422"/>
                    <a:pt x="2178417" y="745067"/>
                    <a:pt x="2157884" y="745067"/>
                  </a:cubicBezTo>
                  <a:lnTo>
                    <a:pt x="37177" y="745067"/>
                  </a:lnTo>
                  <a:cubicBezTo>
                    <a:pt x="16645" y="745067"/>
                    <a:pt x="0" y="728422"/>
                    <a:pt x="0" y="707889"/>
                  </a:cubicBezTo>
                  <a:lnTo>
                    <a:pt x="0" y="37177"/>
                  </a:lnTo>
                  <a:cubicBezTo>
                    <a:pt x="0" y="16645"/>
                    <a:pt x="16645" y="0"/>
                    <a:pt x="37177" y="0"/>
                  </a:cubicBezTo>
                  <a:close/>
                </a:path>
              </a:pathLst>
            </a:custGeom>
            <a:solidFill>
              <a:srgbClr val="F0F4F8"/>
            </a:solidFill>
          </p:spPr>
        </p:sp>
        <p:sp>
          <p:nvSpPr>
            <p:cNvPr name="TextBox 10" id="10"/>
            <p:cNvSpPr txBox="true"/>
            <p:nvPr/>
          </p:nvSpPr>
          <p:spPr>
            <a:xfrm>
              <a:off x="0" y="-57150"/>
              <a:ext cx="2195062" cy="802217"/>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9291555" y="6789565"/>
            <a:ext cx="8329695" cy="2827337"/>
            <a:chOff x="0" y="0"/>
            <a:chExt cx="2195062" cy="745067"/>
          </a:xfrm>
        </p:grpSpPr>
        <p:sp>
          <p:nvSpPr>
            <p:cNvPr name="Freeform 12" id="12"/>
            <p:cNvSpPr/>
            <p:nvPr/>
          </p:nvSpPr>
          <p:spPr>
            <a:xfrm flipH="false" flipV="false" rot="0">
              <a:off x="0" y="0"/>
              <a:ext cx="2195062" cy="745067"/>
            </a:xfrm>
            <a:custGeom>
              <a:avLst/>
              <a:gdLst/>
              <a:ahLst/>
              <a:cxnLst/>
              <a:rect r="r" b="b" t="t" l="l"/>
              <a:pathLst>
                <a:path h="745067" w="2195062">
                  <a:moveTo>
                    <a:pt x="37177" y="0"/>
                  </a:moveTo>
                  <a:lnTo>
                    <a:pt x="2157884" y="0"/>
                  </a:lnTo>
                  <a:cubicBezTo>
                    <a:pt x="2178417" y="0"/>
                    <a:pt x="2195062" y="16645"/>
                    <a:pt x="2195062" y="37177"/>
                  </a:cubicBezTo>
                  <a:lnTo>
                    <a:pt x="2195062" y="707889"/>
                  </a:lnTo>
                  <a:cubicBezTo>
                    <a:pt x="2195062" y="728422"/>
                    <a:pt x="2178417" y="745067"/>
                    <a:pt x="2157884" y="745067"/>
                  </a:cubicBezTo>
                  <a:lnTo>
                    <a:pt x="37177" y="745067"/>
                  </a:lnTo>
                  <a:cubicBezTo>
                    <a:pt x="16645" y="745067"/>
                    <a:pt x="0" y="728422"/>
                    <a:pt x="0" y="707889"/>
                  </a:cubicBezTo>
                  <a:lnTo>
                    <a:pt x="0" y="37177"/>
                  </a:lnTo>
                  <a:cubicBezTo>
                    <a:pt x="0" y="16645"/>
                    <a:pt x="16645" y="0"/>
                    <a:pt x="37177" y="0"/>
                  </a:cubicBezTo>
                  <a:close/>
                </a:path>
              </a:pathLst>
            </a:custGeom>
            <a:solidFill>
              <a:srgbClr val="F0F4F8"/>
            </a:solidFill>
          </p:spPr>
        </p:sp>
        <p:sp>
          <p:nvSpPr>
            <p:cNvPr name="TextBox 13" id="13"/>
            <p:cNvSpPr txBox="true"/>
            <p:nvPr/>
          </p:nvSpPr>
          <p:spPr>
            <a:xfrm>
              <a:off x="0" y="-57150"/>
              <a:ext cx="2195062" cy="802217"/>
            </a:xfrm>
            <a:prstGeom prst="rect">
              <a:avLst/>
            </a:prstGeom>
          </p:spPr>
          <p:txBody>
            <a:bodyPr anchor="ctr" rtlCol="false" tIns="50800" lIns="50800" bIns="50800" rIns="50800"/>
            <a:lstStyle/>
            <a:p>
              <a:pPr algn="ctr">
                <a:lnSpc>
                  <a:spcPts val="3359"/>
                </a:lnSpc>
              </a:pPr>
            </a:p>
          </p:txBody>
        </p:sp>
      </p:grpSp>
      <p:grpSp>
        <p:nvGrpSpPr>
          <p:cNvPr name="Group 14" id="14"/>
          <p:cNvGrpSpPr/>
          <p:nvPr/>
        </p:nvGrpSpPr>
        <p:grpSpPr>
          <a:xfrm rot="0">
            <a:off x="666750" y="666750"/>
            <a:ext cx="16954500" cy="2686050"/>
            <a:chOff x="0" y="0"/>
            <a:chExt cx="4987154" cy="790100"/>
          </a:xfrm>
        </p:grpSpPr>
        <p:sp>
          <p:nvSpPr>
            <p:cNvPr name="Freeform 15" id="15"/>
            <p:cNvSpPr/>
            <p:nvPr/>
          </p:nvSpPr>
          <p:spPr>
            <a:xfrm flipH="false" flipV="false" rot="0">
              <a:off x="0" y="0"/>
              <a:ext cx="4987156" cy="790100"/>
            </a:xfrm>
            <a:custGeom>
              <a:avLst/>
              <a:gdLst/>
              <a:ahLst/>
              <a:cxnLst/>
              <a:rect r="r" b="b" t="t" l="l"/>
              <a:pathLst>
                <a:path h="790100" w="4987156">
                  <a:moveTo>
                    <a:pt x="4640197" y="0"/>
                  </a:moveTo>
                  <a:lnTo>
                    <a:pt x="148415" y="0"/>
                  </a:lnTo>
                  <a:cubicBezTo>
                    <a:pt x="66448" y="0"/>
                    <a:pt x="0" y="66448"/>
                    <a:pt x="0" y="148415"/>
                  </a:cubicBezTo>
                  <a:lnTo>
                    <a:pt x="0" y="510707"/>
                  </a:lnTo>
                  <a:cubicBezTo>
                    <a:pt x="0" y="547218"/>
                    <a:pt x="13458" y="582448"/>
                    <a:pt x="37800" y="609659"/>
                  </a:cubicBezTo>
                  <a:lnTo>
                    <a:pt x="154967" y="740636"/>
                  </a:lnTo>
                  <a:cubicBezTo>
                    <a:pt x="183122" y="772111"/>
                    <a:pt x="223353" y="790101"/>
                    <a:pt x="265584" y="790100"/>
                  </a:cubicBezTo>
                  <a:lnTo>
                    <a:pt x="4838740" y="790100"/>
                  </a:lnTo>
                  <a:cubicBezTo>
                    <a:pt x="4878102" y="790100"/>
                    <a:pt x="4915853" y="774464"/>
                    <a:pt x="4943686" y="746630"/>
                  </a:cubicBezTo>
                  <a:cubicBezTo>
                    <a:pt x="4971519" y="718797"/>
                    <a:pt x="4987156" y="681047"/>
                    <a:pt x="4987156" y="641685"/>
                  </a:cubicBezTo>
                  <a:lnTo>
                    <a:pt x="4987156" y="366141"/>
                  </a:lnTo>
                  <a:cubicBezTo>
                    <a:pt x="4987156" y="329143"/>
                    <a:pt x="4973337" y="293478"/>
                    <a:pt x="4948407" y="266140"/>
                  </a:cubicBezTo>
                  <a:lnTo>
                    <a:pt x="4749864" y="48414"/>
                  </a:lnTo>
                  <a:cubicBezTo>
                    <a:pt x="4721742" y="17574"/>
                    <a:pt x="4681934" y="0"/>
                    <a:pt x="4640197" y="0"/>
                  </a:cubicBezTo>
                  <a:close/>
                </a:path>
              </a:pathLst>
            </a:custGeom>
            <a:solidFill>
              <a:srgbClr val="1473E6"/>
            </a:solidFill>
            <a:ln w="12700">
              <a:solidFill>
                <a:srgbClr val="000000"/>
              </a:solidFill>
            </a:ln>
          </p:spPr>
        </p:sp>
      </p:grpSp>
      <p:sp>
        <p:nvSpPr>
          <p:cNvPr name="Freeform 16" id="16"/>
          <p:cNvSpPr/>
          <p:nvPr/>
        </p:nvSpPr>
        <p:spPr>
          <a:xfrm flipH="false" flipV="false" rot="0">
            <a:off x="1319253" y="4247818"/>
            <a:ext cx="460276" cy="460276"/>
          </a:xfrm>
          <a:custGeom>
            <a:avLst/>
            <a:gdLst/>
            <a:ahLst/>
            <a:cxnLst/>
            <a:rect r="r" b="b" t="t" l="l"/>
            <a:pathLst>
              <a:path h="460276" w="460276">
                <a:moveTo>
                  <a:pt x="0" y="0"/>
                </a:moveTo>
                <a:lnTo>
                  <a:pt x="460276" y="0"/>
                </a:lnTo>
                <a:lnTo>
                  <a:pt x="460276" y="460276"/>
                </a:lnTo>
                <a:lnTo>
                  <a:pt x="0" y="4602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9964117" y="4247818"/>
            <a:ext cx="460276" cy="460276"/>
          </a:xfrm>
          <a:custGeom>
            <a:avLst/>
            <a:gdLst/>
            <a:ahLst/>
            <a:cxnLst/>
            <a:rect r="r" b="b" t="t" l="l"/>
            <a:pathLst>
              <a:path h="460276" w="460276">
                <a:moveTo>
                  <a:pt x="0" y="0"/>
                </a:moveTo>
                <a:lnTo>
                  <a:pt x="460276" y="0"/>
                </a:lnTo>
                <a:lnTo>
                  <a:pt x="460276" y="460276"/>
                </a:lnTo>
                <a:lnTo>
                  <a:pt x="0" y="4602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319253" y="7379784"/>
            <a:ext cx="460276" cy="460276"/>
          </a:xfrm>
          <a:custGeom>
            <a:avLst/>
            <a:gdLst/>
            <a:ahLst/>
            <a:cxnLst/>
            <a:rect r="r" b="b" t="t" l="l"/>
            <a:pathLst>
              <a:path h="460276" w="460276">
                <a:moveTo>
                  <a:pt x="0" y="0"/>
                </a:moveTo>
                <a:lnTo>
                  <a:pt x="460276" y="0"/>
                </a:lnTo>
                <a:lnTo>
                  <a:pt x="460276" y="460276"/>
                </a:lnTo>
                <a:lnTo>
                  <a:pt x="0" y="4602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9964117" y="7379784"/>
            <a:ext cx="460276" cy="460276"/>
          </a:xfrm>
          <a:custGeom>
            <a:avLst/>
            <a:gdLst/>
            <a:ahLst/>
            <a:cxnLst/>
            <a:rect r="r" b="b" t="t" l="l"/>
            <a:pathLst>
              <a:path h="460276" w="460276">
                <a:moveTo>
                  <a:pt x="0" y="0"/>
                </a:moveTo>
                <a:lnTo>
                  <a:pt x="460276" y="0"/>
                </a:lnTo>
                <a:lnTo>
                  <a:pt x="460276" y="460276"/>
                </a:lnTo>
                <a:lnTo>
                  <a:pt x="0" y="4602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2104217" y="4238293"/>
            <a:ext cx="6137694" cy="923412"/>
          </a:xfrm>
          <a:prstGeom prst="rect">
            <a:avLst/>
          </a:prstGeom>
        </p:spPr>
        <p:txBody>
          <a:bodyPr anchor="t" rtlCol="false" tIns="0" lIns="0" bIns="0" rIns="0">
            <a:spAutoFit/>
          </a:bodyPr>
          <a:lstStyle/>
          <a:p>
            <a:pPr algn="l" marL="0" indent="0" lvl="0">
              <a:lnSpc>
                <a:spcPts val="3597"/>
              </a:lnSpc>
              <a:spcBef>
                <a:spcPct val="0"/>
              </a:spcBef>
            </a:pPr>
            <a:r>
              <a:rPr lang="en-US" b="true" sz="2998" spc="-164" strike="noStrike" u="none">
                <a:solidFill>
                  <a:srgbClr val="1473E6"/>
                </a:solidFill>
                <a:latin typeface="Work Sans Semi-Bold"/>
                <a:ea typeface="Work Sans Semi-Bold"/>
                <a:cs typeface="Work Sans Semi-Bold"/>
                <a:sym typeface="Work Sans Semi-Bold"/>
              </a:rPr>
              <a:t>Focus Timer for Enhanced Productivity</a:t>
            </a:r>
          </a:p>
        </p:txBody>
      </p:sp>
      <p:sp>
        <p:nvSpPr>
          <p:cNvPr name="TextBox 21" id="21"/>
          <p:cNvSpPr txBox="true"/>
          <p:nvPr/>
        </p:nvSpPr>
        <p:spPr>
          <a:xfrm rot="0">
            <a:off x="2104217" y="5337918"/>
            <a:ext cx="6137694" cy="323674"/>
          </a:xfrm>
          <a:prstGeom prst="rect">
            <a:avLst/>
          </a:prstGeom>
        </p:spPr>
        <p:txBody>
          <a:bodyPr anchor="t" rtlCol="false" tIns="0" lIns="0" bIns="0" rIns="0">
            <a:spAutoFit/>
          </a:bodyPr>
          <a:lstStyle/>
          <a:p>
            <a:pPr algn="l" marL="0" indent="0" lvl="0">
              <a:lnSpc>
                <a:spcPts val="2518"/>
              </a:lnSpc>
            </a:pPr>
            <a:r>
              <a:rPr lang="en-US" sz="2098" spc="-115">
                <a:solidFill>
                  <a:srgbClr val="1473E6"/>
                </a:solidFill>
                <a:latin typeface="Work Sans"/>
                <a:ea typeface="Work Sans"/>
                <a:cs typeface="Work Sans"/>
                <a:sym typeface="Work Sans"/>
              </a:rPr>
              <a:t>Stay on track with dedicated study sessions.</a:t>
            </a:r>
          </a:p>
        </p:txBody>
      </p:sp>
      <p:grpSp>
        <p:nvGrpSpPr>
          <p:cNvPr name="Group 22" id="22"/>
          <p:cNvGrpSpPr/>
          <p:nvPr/>
        </p:nvGrpSpPr>
        <p:grpSpPr>
          <a:xfrm rot="0">
            <a:off x="2104217" y="7379784"/>
            <a:ext cx="6137694" cy="2042070"/>
            <a:chOff x="0" y="0"/>
            <a:chExt cx="8183592" cy="2722761"/>
          </a:xfrm>
        </p:grpSpPr>
        <p:sp>
          <p:nvSpPr>
            <p:cNvPr name="TextBox 23" id="23"/>
            <p:cNvSpPr txBox="true"/>
            <p:nvPr/>
          </p:nvSpPr>
          <p:spPr>
            <a:xfrm rot="0">
              <a:off x="0" y="-9525"/>
              <a:ext cx="8183592" cy="1228040"/>
            </a:xfrm>
            <a:prstGeom prst="rect">
              <a:avLst/>
            </a:prstGeom>
          </p:spPr>
          <p:txBody>
            <a:bodyPr anchor="t" rtlCol="false" tIns="0" lIns="0" bIns="0" rIns="0">
              <a:spAutoFit/>
            </a:bodyPr>
            <a:lstStyle/>
            <a:p>
              <a:pPr algn="l" marL="0" indent="0" lvl="0">
                <a:lnSpc>
                  <a:spcPts val="3597"/>
                </a:lnSpc>
                <a:spcBef>
                  <a:spcPct val="0"/>
                </a:spcBef>
              </a:pPr>
              <a:r>
                <a:rPr lang="en-US" b="true" sz="2998" spc="-164" strike="noStrike" u="none">
                  <a:solidFill>
                    <a:srgbClr val="1473E6"/>
                  </a:solidFill>
                  <a:latin typeface="Work Sans Semi-Bold"/>
                  <a:ea typeface="Work Sans Semi-Bold"/>
                  <a:cs typeface="Work Sans Semi-Bold"/>
                  <a:sym typeface="Work Sans Semi-Bold"/>
                </a:rPr>
                <a:t>AI Study Tools for Personalized Learning</a:t>
              </a:r>
            </a:p>
          </p:txBody>
        </p:sp>
        <p:sp>
          <p:nvSpPr>
            <p:cNvPr name="TextBox 24" id="24"/>
            <p:cNvSpPr txBox="true"/>
            <p:nvPr/>
          </p:nvSpPr>
          <p:spPr>
            <a:xfrm rot="0">
              <a:off x="0" y="1456642"/>
              <a:ext cx="8183592" cy="1266119"/>
            </a:xfrm>
            <a:prstGeom prst="rect">
              <a:avLst/>
            </a:prstGeom>
          </p:spPr>
          <p:txBody>
            <a:bodyPr anchor="t" rtlCol="false" tIns="0" lIns="0" bIns="0" rIns="0">
              <a:spAutoFit/>
            </a:bodyPr>
            <a:lstStyle/>
            <a:p>
              <a:pPr algn="l">
                <a:lnSpc>
                  <a:spcPts val="2518"/>
                </a:lnSpc>
              </a:pPr>
              <a:r>
                <a:rPr lang="en-US" sz="2098" spc="-115">
                  <a:solidFill>
                    <a:srgbClr val="1473E6"/>
                  </a:solidFill>
                  <a:latin typeface="Work Sans"/>
                  <a:ea typeface="Work Sans"/>
                  <a:cs typeface="Work Sans"/>
                  <a:sym typeface="Work Sans"/>
                </a:rPr>
                <a:t>Use AI to scan text, answer questions, summarize files, and generate timetables.</a:t>
              </a:r>
            </a:p>
            <a:p>
              <a:pPr algn="l" marL="0" indent="0" lvl="0">
                <a:lnSpc>
                  <a:spcPts val="2518"/>
                </a:lnSpc>
              </a:pPr>
            </a:p>
          </p:txBody>
        </p:sp>
      </p:grpSp>
      <p:grpSp>
        <p:nvGrpSpPr>
          <p:cNvPr name="Group 25" id="25"/>
          <p:cNvGrpSpPr/>
          <p:nvPr/>
        </p:nvGrpSpPr>
        <p:grpSpPr>
          <a:xfrm rot="0">
            <a:off x="10729022" y="4247818"/>
            <a:ext cx="6212612" cy="956830"/>
            <a:chOff x="0" y="0"/>
            <a:chExt cx="8283483" cy="1275773"/>
          </a:xfrm>
        </p:grpSpPr>
        <p:sp>
          <p:nvSpPr>
            <p:cNvPr name="TextBox 26" id="26"/>
            <p:cNvSpPr txBox="true"/>
            <p:nvPr/>
          </p:nvSpPr>
          <p:spPr>
            <a:xfrm rot="0">
              <a:off x="0" y="-9525"/>
              <a:ext cx="8283483" cy="618783"/>
            </a:xfrm>
            <a:prstGeom prst="rect">
              <a:avLst/>
            </a:prstGeom>
          </p:spPr>
          <p:txBody>
            <a:bodyPr anchor="t" rtlCol="false" tIns="0" lIns="0" bIns="0" rIns="0">
              <a:spAutoFit/>
            </a:bodyPr>
            <a:lstStyle/>
            <a:p>
              <a:pPr algn="l" marL="0" indent="0" lvl="0">
                <a:lnSpc>
                  <a:spcPts val="3597"/>
                </a:lnSpc>
                <a:spcBef>
                  <a:spcPct val="0"/>
                </a:spcBef>
              </a:pPr>
              <a:r>
                <a:rPr lang="en-US" b="true" sz="2998" spc="-164" strike="noStrike" u="none">
                  <a:solidFill>
                    <a:srgbClr val="1473E6"/>
                  </a:solidFill>
                  <a:latin typeface="Work Sans Semi-Bold"/>
                  <a:ea typeface="Work Sans Semi-Bold"/>
                  <a:cs typeface="Work Sans Semi-Bold"/>
                  <a:sym typeface="Work Sans Semi-Bold"/>
                </a:rPr>
                <a:t>Daily Planner for Better Organization</a:t>
              </a:r>
            </a:p>
          </p:txBody>
        </p:sp>
        <p:sp>
          <p:nvSpPr>
            <p:cNvPr name="TextBox 27" id="27"/>
            <p:cNvSpPr txBox="true"/>
            <p:nvPr/>
          </p:nvSpPr>
          <p:spPr>
            <a:xfrm rot="0">
              <a:off x="0" y="847384"/>
              <a:ext cx="8283483" cy="428390"/>
            </a:xfrm>
            <a:prstGeom prst="rect">
              <a:avLst/>
            </a:prstGeom>
          </p:spPr>
          <p:txBody>
            <a:bodyPr anchor="t" rtlCol="false" tIns="0" lIns="0" bIns="0" rIns="0">
              <a:spAutoFit/>
            </a:bodyPr>
            <a:lstStyle/>
            <a:p>
              <a:pPr algn="l" marL="0" indent="0" lvl="0">
                <a:lnSpc>
                  <a:spcPts val="2518"/>
                </a:lnSpc>
              </a:pPr>
              <a:r>
                <a:rPr lang="en-US" sz="2098" spc="-115">
                  <a:solidFill>
                    <a:srgbClr val="1473E6"/>
                  </a:solidFill>
                  <a:latin typeface="Work Sans"/>
                  <a:ea typeface="Work Sans"/>
                  <a:cs typeface="Work Sans"/>
                  <a:sym typeface="Work Sans"/>
                </a:rPr>
                <a:t>Plan your day effectively to improve study efficiency.</a:t>
              </a:r>
            </a:p>
          </p:txBody>
        </p:sp>
      </p:grpSp>
      <p:grpSp>
        <p:nvGrpSpPr>
          <p:cNvPr name="Group 28" id="28"/>
          <p:cNvGrpSpPr/>
          <p:nvPr/>
        </p:nvGrpSpPr>
        <p:grpSpPr>
          <a:xfrm rot="0">
            <a:off x="10729022" y="7379784"/>
            <a:ext cx="6212612" cy="1727922"/>
            <a:chOff x="0" y="0"/>
            <a:chExt cx="8283483" cy="2303896"/>
          </a:xfrm>
        </p:grpSpPr>
        <p:sp>
          <p:nvSpPr>
            <p:cNvPr name="TextBox 29" id="29"/>
            <p:cNvSpPr txBox="true"/>
            <p:nvPr/>
          </p:nvSpPr>
          <p:spPr>
            <a:xfrm rot="0">
              <a:off x="0" y="-9525"/>
              <a:ext cx="8283483" cy="1228040"/>
            </a:xfrm>
            <a:prstGeom prst="rect">
              <a:avLst/>
            </a:prstGeom>
          </p:spPr>
          <p:txBody>
            <a:bodyPr anchor="t" rtlCol="false" tIns="0" lIns="0" bIns="0" rIns="0">
              <a:spAutoFit/>
            </a:bodyPr>
            <a:lstStyle/>
            <a:p>
              <a:pPr algn="l" marL="0" indent="0" lvl="0">
                <a:lnSpc>
                  <a:spcPts val="3597"/>
                </a:lnSpc>
                <a:spcBef>
                  <a:spcPct val="0"/>
                </a:spcBef>
              </a:pPr>
              <a:r>
                <a:rPr lang="en-US" b="true" sz="2998" spc="-164" strike="noStrike" u="none">
                  <a:solidFill>
                    <a:srgbClr val="1473E6"/>
                  </a:solidFill>
                  <a:latin typeface="Work Sans Semi-Bold"/>
                  <a:ea typeface="Work Sans Semi-Bold"/>
                  <a:cs typeface="Work Sans Semi-Bold"/>
                  <a:sym typeface="Work Sans Semi-Bold"/>
                </a:rPr>
                <a:t>Calendar &amp; Tasks for Effective Time Management</a:t>
              </a:r>
            </a:p>
          </p:txBody>
        </p:sp>
        <p:sp>
          <p:nvSpPr>
            <p:cNvPr name="TextBox 30" id="30"/>
            <p:cNvSpPr txBox="true"/>
            <p:nvPr/>
          </p:nvSpPr>
          <p:spPr>
            <a:xfrm rot="0">
              <a:off x="0" y="1456642"/>
              <a:ext cx="8283483" cy="847254"/>
            </a:xfrm>
            <a:prstGeom prst="rect">
              <a:avLst/>
            </a:prstGeom>
          </p:spPr>
          <p:txBody>
            <a:bodyPr anchor="t" rtlCol="false" tIns="0" lIns="0" bIns="0" rIns="0">
              <a:spAutoFit/>
            </a:bodyPr>
            <a:lstStyle/>
            <a:p>
              <a:pPr algn="l" marL="0" indent="0" lvl="0">
                <a:lnSpc>
                  <a:spcPts val="2518"/>
                </a:lnSpc>
              </a:pPr>
              <a:r>
                <a:rPr lang="en-US" sz="2098" spc="-115">
                  <a:solidFill>
                    <a:srgbClr val="1473E6"/>
                  </a:solidFill>
                  <a:latin typeface="Work Sans"/>
                  <a:ea typeface="Work Sans"/>
                  <a:cs typeface="Work Sans"/>
                  <a:sym typeface="Work Sans"/>
                </a:rPr>
                <a:t>Track deadlines and manage assignments effortlessly.</a:t>
              </a:r>
            </a:p>
          </p:txBody>
        </p:sp>
      </p:grpSp>
      <p:sp>
        <p:nvSpPr>
          <p:cNvPr name="TextBox 31" id="31"/>
          <p:cNvSpPr txBox="true"/>
          <p:nvPr/>
        </p:nvSpPr>
        <p:spPr>
          <a:xfrm rot="0">
            <a:off x="2105025" y="1641475"/>
            <a:ext cx="14077950" cy="898525"/>
          </a:xfrm>
          <a:prstGeom prst="rect">
            <a:avLst/>
          </a:prstGeom>
        </p:spPr>
        <p:txBody>
          <a:bodyPr anchor="t" rtlCol="false" tIns="0" lIns="0" bIns="0" rIns="0">
            <a:spAutoFit/>
          </a:bodyPr>
          <a:lstStyle/>
          <a:p>
            <a:pPr algn="l" marL="0" indent="0" lvl="0">
              <a:lnSpc>
                <a:spcPts val="6649"/>
              </a:lnSpc>
              <a:spcBef>
                <a:spcPct val="0"/>
              </a:spcBef>
            </a:pPr>
            <a:r>
              <a:rPr lang="en-US" b="true" sz="6999" spc="-384" strike="noStrike" u="none">
                <a:solidFill>
                  <a:srgbClr val="F0F4F8"/>
                </a:solidFill>
                <a:latin typeface="Work Sans Semi-Bold"/>
                <a:ea typeface="Work Sans Semi-Bold"/>
                <a:cs typeface="Work Sans Semi-Bold"/>
                <a:sym typeface="Work Sans Semi-Bold"/>
              </a:rPr>
              <a:t>Key Features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3299803" cy="1742593"/>
          </a:xfrm>
        </p:grpSpPr>
        <p:sp>
          <p:nvSpPr>
            <p:cNvPr name="Freeform 3" id="3"/>
            <p:cNvSpPr/>
            <p:nvPr/>
          </p:nvSpPr>
          <p:spPr>
            <a:xfrm flipH="false" flipV="false" rot="0">
              <a:off x="0" y="0"/>
              <a:ext cx="3299803" cy="1742587"/>
            </a:xfrm>
            <a:custGeom>
              <a:avLst/>
              <a:gdLst/>
              <a:ahLst/>
              <a:cxnLst/>
              <a:rect r="r" b="b" t="t" l="l"/>
              <a:pathLst>
                <a:path h="1742587" w="3299803">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1473E6"/>
            </a:solidFill>
            <a:ln cap="rnd" w="12700">
              <a:solidFill>
                <a:srgbClr val="000000"/>
              </a:solidFill>
              <a:prstDash val="solid"/>
              <a:round/>
            </a:ln>
          </p:spPr>
        </p:sp>
      </p:grpSp>
      <p:grpSp>
        <p:nvGrpSpPr>
          <p:cNvPr name="Group 4" id="4"/>
          <p:cNvGrpSpPr/>
          <p:nvPr/>
        </p:nvGrpSpPr>
        <p:grpSpPr>
          <a:xfrm rot="0">
            <a:off x="10312605" y="981075"/>
            <a:ext cx="6946695" cy="7471274"/>
            <a:chOff x="0" y="0"/>
            <a:chExt cx="3482081" cy="3745030"/>
          </a:xfrm>
        </p:grpSpPr>
        <p:sp>
          <p:nvSpPr>
            <p:cNvPr name="Freeform 5" id="5"/>
            <p:cNvSpPr/>
            <p:nvPr/>
          </p:nvSpPr>
          <p:spPr>
            <a:xfrm flipH="false" flipV="false" rot="0">
              <a:off x="54483" y="50038"/>
              <a:ext cx="3372988" cy="3645589"/>
            </a:xfrm>
            <a:custGeom>
              <a:avLst/>
              <a:gdLst/>
              <a:ahLst/>
              <a:cxnLst/>
              <a:rect r="r" b="b" t="t" l="l"/>
              <a:pathLst>
                <a:path h="3645589" w="3372988">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0" t="-42187" r="0" b="-42187"/>
              </a:stretch>
            </a:blipFill>
          </p:spPr>
        </p:sp>
        <p:sp>
          <p:nvSpPr>
            <p:cNvPr name="Freeform 6" id="6"/>
            <p:cNvSpPr/>
            <p:nvPr/>
          </p:nvSpPr>
          <p:spPr>
            <a:xfrm flipH="false" flipV="false" rot="0">
              <a:off x="0" y="0"/>
              <a:ext cx="3481954" cy="3744903"/>
            </a:xfrm>
            <a:custGeom>
              <a:avLst/>
              <a:gdLst/>
              <a:ahLst/>
              <a:cxnLst/>
              <a:rect r="r" b="b" t="t" l="l"/>
              <a:pathLst>
                <a:path h="3744903" w="3481954">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F0F4F8"/>
            </a:solidFill>
          </p:spPr>
        </p:sp>
      </p:grpSp>
      <p:sp>
        <p:nvSpPr>
          <p:cNvPr name="Freeform 7" id="7"/>
          <p:cNvSpPr/>
          <p:nvPr/>
        </p:nvSpPr>
        <p:spPr>
          <a:xfrm flipH="false" flipV="false" rot="0">
            <a:off x="10538140" y="1228725"/>
            <a:ext cx="6384179" cy="966494"/>
          </a:xfrm>
          <a:custGeom>
            <a:avLst/>
            <a:gdLst/>
            <a:ahLst/>
            <a:cxnLst/>
            <a:rect r="r" b="b" t="t" l="l"/>
            <a:pathLst>
              <a:path h="966494" w="6384179">
                <a:moveTo>
                  <a:pt x="0" y="0"/>
                </a:moveTo>
                <a:lnTo>
                  <a:pt x="6384179" y="0"/>
                </a:lnTo>
                <a:lnTo>
                  <a:pt x="6384179" y="966494"/>
                </a:lnTo>
                <a:lnTo>
                  <a:pt x="0" y="966494"/>
                </a:lnTo>
                <a:lnTo>
                  <a:pt x="0" y="0"/>
                </a:lnTo>
                <a:close/>
              </a:path>
            </a:pathLst>
          </a:custGeom>
          <a:blipFill>
            <a:blip r:embed="rId3"/>
            <a:stretch>
              <a:fillRect l="0" t="0" r="0" b="0"/>
            </a:stretch>
          </a:blipFill>
        </p:spPr>
      </p:sp>
      <p:grpSp>
        <p:nvGrpSpPr>
          <p:cNvPr name="Group 8" id="8"/>
          <p:cNvGrpSpPr/>
          <p:nvPr/>
        </p:nvGrpSpPr>
        <p:grpSpPr>
          <a:xfrm rot="0">
            <a:off x="2105025" y="1562100"/>
            <a:ext cx="6886575" cy="3398892"/>
            <a:chOff x="0" y="0"/>
            <a:chExt cx="9182100" cy="4531856"/>
          </a:xfrm>
        </p:grpSpPr>
        <p:sp>
          <p:nvSpPr>
            <p:cNvPr name="TextBox 9" id="9"/>
            <p:cNvSpPr txBox="true"/>
            <p:nvPr/>
          </p:nvSpPr>
          <p:spPr>
            <a:xfrm rot="0">
              <a:off x="0" y="1588631"/>
              <a:ext cx="7264400" cy="2943225"/>
            </a:xfrm>
            <a:prstGeom prst="rect">
              <a:avLst/>
            </a:prstGeom>
          </p:spPr>
          <p:txBody>
            <a:bodyPr anchor="t" rtlCol="false" tIns="0" lIns="0" bIns="0" rIns="0">
              <a:spAutoFit/>
            </a:bodyPr>
            <a:lstStyle/>
            <a:p>
              <a:pPr algn="l">
                <a:lnSpc>
                  <a:spcPts val="2520"/>
                </a:lnSpc>
              </a:pPr>
              <a:r>
                <a:rPr lang="en-US" sz="2100" spc="-115">
                  <a:solidFill>
                    <a:srgbClr val="F0F4F8"/>
                  </a:solidFill>
                  <a:latin typeface="Work Sans"/>
                  <a:ea typeface="Work Sans"/>
                  <a:cs typeface="Work Sans"/>
                  <a:sym typeface="Work Sans"/>
                </a:rPr>
                <a:t>The FOCUS homepage is designed with a clean and </a:t>
              </a:r>
              <a:r>
                <a:rPr lang="en-US" sz="2100" spc="-115" b="true">
                  <a:solidFill>
                    <a:srgbClr val="F0F4F8"/>
                  </a:solidFill>
                  <a:latin typeface="Work Sans Bold"/>
                  <a:ea typeface="Work Sans Bold"/>
                  <a:cs typeface="Work Sans Bold"/>
                  <a:sym typeface="Work Sans Bold"/>
                </a:rPr>
                <a:t>user-friendly</a:t>
              </a:r>
              <a:r>
                <a:rPr lang="en-US" sz="2100" spc="-115">
                  <a:solidFill>
                    <a:srgbClr val="F0F4F8"/>
                  </a:solidFill>
                  <a:latin typeface="Work Sans"/>
                  <a:ea typeface="Work Sans"/>
                  <a:cs typeface="Work Sans"/>
                  <a:sym typeface="Work Sans"/>
                </a:rPr>
                <a:t> interface that makes navigation easy.</a:t>
              </a:r>
            </a:p>
            <a:p>
              <a:pPr algn="l" marL="0" indent="0" lvl="0">
                <a:lnSpc>
                  <a:spcPts val="2520"/>
                </a:lnSpc>
              </a:pPr>
              <a:r>
                <a:rPr lang="en-US" b="true" sz="2100" spc="-115">
                  <a:solidFill>
                    <a:srgbClr val="F0F4F8"/>
                  </a:solidFill>
                  <a:latin typeface="Work Sans Bold"/>
                  <a:ea typeface="Work Sans Bold"/>
                  <a:cs typeface="Work Sans Bold"/>
                  <a:sym typeface="Work Sans Bold"/>
                </a:rPr>
                <a:t>Bright visuals </a:t>
              </a:r>
              <a:r>
                <a:rPr lang="en-US" sz="2100" spc="-115">
                  <a:solidFill>
                    <a:srgbClr val="F0F4F8"/>
                  </a:solidFill>
                  <a:latin typeface="Work Sans"/>
                  <a:ea typeface="Work Sans"/>
                  <a:cs typeface="Work Sans"/>
                  <a:sym typeface="Work Sans"/>
                </a:rPr>
                <a:t>and </a:t>
              </a:r>
              <a:r>
                <a:rPr lang="en-US" b="true" sz="2100" spc="-115">
                  <a:solidFill>
                    <a:srgbClr val="F0F4F8"/>
                  </a:solidFill>
                  <a:latin typeface="Work Sans Bold"/>
                  <a:ea typeface="Work Sans Bold"/>
                  <a:cs typeface="Work Sans Bold"/>
                  <a:sym typeface="Work Sans Bold"/>
                </a:rPr>
                <a:t>intuitive layout help students</a:t>
              </a:r>
              <a:r>
                <a:rPr lang="en-US" sz="2100" spc="-115">
                  <a:solidFill>
                    <a:srgbClr val="F0F4F8"/>
                  </a:solidFill>
                  <a:latin typeface="Work Sans"/>
                  <a:ea typeface="Work Sans"/>
                  <a:cs typeface="Work Sans"/>
                  <a:sym typeface="Work Sans"/>
                </a:rPr>
                <a:t> quickly access study tools, manage tasks, and track progress — creating a smooth and effective study experience.</a:t>
              </a:r>
            </a:p>
          </p:txBody>
        </p:sp>
        <p:sp>
          <p:nvSpPr>
            <p:cNvPr name="TextBox 10" id="10"/>
            <p:cNvSpPr txBox="true"/>
            <p:nvPr/>
          </p:nvSpPr>
          <p:spPr>
            <a:xfrm rot="0">
              <a:off x="0" y="133350"/>
              <a:ext cx="9182100" cy="12848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F0F4F8"/>
                  </a:solidFill>
                  <a:latin typeface="Work Sans Semi-Bold"/>
                  <a:ea typeface="Work Sans Semi-Bold"/>
                  <a:cs typeface="Work Sans Semi-Bold"/>
                  <a:sym typeface="Work Sans Semi-Bold"/>
                </a:rPr>
                <a:t>Homepage</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3299803" cy="1742593"/>
          </a:xfrm>
        </p:grpSpPr>
        <p:sp>
          <p:nvSpPr>
            <p:cNvPr name="Freeform 3" id="3"/>
            <p:cNvSpPr/>
            <p:nvPr/>
          </p:nvSpPr>
          <p:spPr>
            <a:xfrm flipH="false" flipV="false" rot="0">
              <a:off x="0" y="0"/>
              <a:ext cx="3299803" cy="1742587"/>
            </a:xfrm>
            <a:custGeom>
              <a:avLst/>
              <a:gdLst/>
              <a:ahLst/>
              <a:cxnLst/>
              <a:rect r="r" b="b" t="t" l="l"/>
              <a:pathLst>
                <a:path h="1742587" w="3299803">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1473E6"/>
            </a:solidFill>
            <a:ln cap="rnd" w="12700">
              <a:solidFill>
                <a:srgbClr val="000000"/>
              </a:solidFill>
              <a:prstDash val="solid"/>
              <a:round/>
            </a:ln>
          </p:spPr>
        </p:sp>
      </p:grpSp>
      <p:grpSp>
        <p:nvGrpSpPr>
          <p:cNvPr name="Group 4" id="4"/>
          <p:cNvGrpSpPr/>
          <p:nvPr/>
        </p:nvGrpSpPr>
        <p:grpSpPr>
          <a:xfrm rot="0">
            <a:off x="2105025" y="1562100"/>
            <a:ext cx="6886575" cy="3398892"/>
            <a:chOff x="0" y="0"/>
            <a:chExt cx="9182100" cy="4531856"/>
          </a:xfrm>
        </p:grpSpPr>
        <p:sp>
          <p:nvSpPr>
            <p:cNvPr name="TextBox 5" id="5"/>
            <p:cNvSpPr txBox="true"/>
            <p:nvPr/>
          </p:nvSpPr>
          <p:spPr>
            <a:xfrm rot="0">
              <a:off x="0" y="1588631"/>
              <a:ext cx="7264400" cy="2943225"/>
            </a:xfrm>
            <a:prstGeom prst="rect">
              <a:avLst/>
            </a:prstGeom>
          </p:spPr>
          <p:txBody>
            <a:bodyPr anchor="t" rtlCol="false" tIns="0" lIns="0" bIns="0" rIns="0">
              <a:spAutoFit/>
            </a:bodyPr>
            <a:lstStyle/>
            <a:p>
              <a:pPr algn="l">
                <a:lnSpc>
                  <a:spcPts val="2520"/>
                </a:lnSpc>
              </a:pPr>
              <a:r>
                <a:rPr lang="en-US" sz="2100" spc="-115">
                  <a:solidFill>
                    <a:srgbClr val="F0F4F8"/>
                  </a:solidFill>
                  <a:latin typeface="Work Sans"/>
                  <a:ea typeface="Work Sans"/>
                  <a:cs typeface="Work Sans"/>
                  <a:sym typeface="Work Sans"/>
                </a:rPr>
                <a:t>The </a:t>
              </a:r>
              <a:r>
                <a:rPr lang="en-US" sz="2100" spc="-115" b="true">
                  <a:solidFill>
                    <a:srgbClr val="F0F4F8"/>
                  </a:solidFill>
                  <a:latin typeface="Work Sans Bold"/>
                  <a:ea typeface="Work Sans Bold"/>
                  <a:cs typeface="Work Sans Bold"/>
                  <a:sym typeface="Work Sans Bold"/>
                </a:rPr>
                <a:t>Focus Timer </a:t>
              </a:r>
              <a:r>
                <a:rPr lang="en-US" sz="2100" spc="-115">
                  <a:solidFill>
                    <a:srgbClr val="F0F4F8"/>
                  </a:solidFill>
                  <a:latin typeface="Work Sans"/>
                  <a:ea typeface="Work Sans"/>
                  <a:cs typeface="Work Sans"/>
                  <a:sym typeface="Work Sans"/>
                </a:rPr>
                <a:t>boosts productivity by helping students manage their study time effectively.</a:t>
              </a:r>
            </a:p>
            <a:p>
              <a:pPr algn="l" marL="0" indent="0" lvl="0">
                <a:lnSpc>
                  <a:spcPts val="2520"/>
                </a:lnSpc>
              </a:pPr>
              <a:r>
                <a:rPr lang="en-US" sz="2100" spc="-115">
                  <a:solidFill>
                    <a:srgbClr val="F0F4F8"/>
                  </a:solidFill>
                  <a:latin typeface="Work Sans"/>
                  <a:ea typeface="Work Sans"/>
                  <a:cs typeface="Work Sans"/>
                  <a:sym typeface="Work Sans"/>
                </a:rPr>
                <a:t>With customizable session durations and breaks, it creates a structured study flow that reduces distractions and improves focus — leading to better academic performance.</a:t>
              </a:r>
            </a:p>
          </p:txBody>
        </p:sp>
        <p:sp>
          <p:nvSpPr>
            <p:cNvPr name="TextBox 6" id="6"/>
            <p:cNvSpPr txBox="true"/>
            <p:nvPr/>
          </p:nvSpPr>
          <p:spPr>
            <a:xfrm rot="0">
              <a:off x="0" y="133350"/>
              <a:ext cx="9182100" cy="12848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F0F4F8"/>
                  </a:solidFill>
                  <a:latin typeface="Work Sans Semi-Bold"/>
                  <a:ea typeface="Work Sans Semi-Bold"/>
                  <a:cs typeface="Work Sans Semi-Bold"/>
                  <a:sym typeface="Work Sans Semi-Bold"/>
                </a:rPr>
                <a:t>Focus Timer</a:t>
              </a:r>
            </a:p>
          </p:txBody>
        </p:sp>
      </p:grpSp>
      <p:grpSp>
        <p:nvGrpSpPr>
          <p:cNvPr name="Group 7" id="7"/>
          <p:cNvGrpSpPr/>
          <p:nvPr/>
        </p:nvGrpSpPr>
        <p:grpSpPr>
          <a:xfrm rot="0">
            <a:off x="10312605" y="981075"/>
            <a:ext cx="6946695" cy="7471274"/>
            <a:chOff x="0" y="0"/>
            <a:chExt cx="3482081" cy="3745030"/>
          </a:xfrm>
        </p:grpSpPr>
        <p:sp>
          <p:nvSpPr>
            <p:cNvPr name="Freeform 8" id="8"/>
            <p:cNvSpPr/>
            <p:nvPr/>
          </p:nvSpPr>
          <p:spPr>
            <a:xfrm flipH="false" flipV="false" rot="0">
              <a:off x="54483" y="50038"/>
              <a:ext cx="3372988" cy="3645589"/>
            </a:xfrm>
            <a:custGeom>
              <a:avLst/>
              <a:gdLst/>
              <a:ahLst/>
              <a:cxnLst/>
              <a:rect r="r" b="b" t="t" l="l"/>
              <a:pathLst>
                <a:path h="3645589" w="3372988">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0" t="-12" r="0" b="-12"/>
              </a:stretch>
            </a:blipFill>
          </p:spPr>
        </p:sp>
        <p:sp>
          <p:nvSpPr>
            <p:cNvPr name="Freeform 9" id="9"/>
            <p:cNvSpPr/>
            <p:nvPr/>
          </p:nvSpPr>
          <p:spPr>
            <a:xfrm flipH="false" flipV="false" rot="0">
              <a:off x="0" y="0"/>
              <a:ext cx="3481954" cy="3744903"/>
            </a:xfrm>
            <a:custGeom>
              <a:avLst/>
              <a:gdLst/>
              <a:ahLst/>
              <a:cxnLst/>
              <a:rect r="r" b="b" t="t" l="l"/>
              <a:pathLst>
                <a:path h="3744903" w="3481954">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F0F4F8"/>
            </a:solid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3299803" cy="1742593"/>
          </a:xfrm>
        </p:grpSpPr>
        <p:sp>
          <p:nvSpPr>
            <p:cNvPr name="Freeform 3" id="3"/>
            <p:cNvSpPr/>
            <p:nvPr/>
          </p:nvSpPr>
          <p:spPr>
            <a:xfrm flipH="false" flipV="false" rot="0">
              <a:off x="0" y="0"/>
              <a:ext cx="3299803" cy="1742587"/>
            </a:xfrm>
            <a:custGeom>
              <a:avLst/>
              <a:gdLst/>
              <a:ahLst/>
              <a:cxnLst/>
              <a:rect r="r" b="b" t="t" l="l"/>
              <a:pathLst>
                <a:path h="1742587" w="3299803">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1473E6"/>
            </a:solidFill>
            <a:ln cap="rnd" w="12700">
              <a:solidFill>
                <a:srgbClr val="000000"/>
              </a:solidFill>
              <a:prstDash val="solid"/>
              <a:round/>
            </a:ln>
          </p:spPr>
        </p:sp>
      </p:grpSp>
      <p:grpSp>
        <p:nvGrpSpPr>
          <p:cNvPr name="Group 4" id="4"/>
          <p:cNvGrpSpPr/>
          <p:nvPr/>
        </p:nvGrpSpPr>
        <p:grpSpPr>
          <a:xfrm rot="0">
            <a:off x="2105025" y="1562100"/>
            <a:ext cx="6886575" cy="3398892"/>
            <a:chOff x="0" y="0"/>
            <a:chExt cx="9182100" cy="4531856"/>
          </a:xfrm>
        </p:grpSpPr>
        <p:sp>
          <p:nvSpPr>
            <p:cNvPr name="TextBox 5" id="5"/>
            <p:cNvSpPr txBox="true"/>
            <p:nvPr/>
          </p:nvSpPr>
          <p:spPr>
            <a:xfrm rot="0">
              <a:off x="0" y="1588631"/>
              <a:ext cx="7264400" cy="2943225"/>
            </a:xfrm>
            <a:prstGeom prst="rect">
              <a:avLst/>
            </a:prstGeom>
          </p:spPr>
          <p:txBody>
            <a:bodyPr anchor="t" rtlCol="false" tIns="0" lIns="0" bIns="0" rIns="0">
              <a:spAutoFit/>
            </a:bodyPr>
            <a:lstStyle/>
            <a:p>
              <a:pPr algn="l">
                <a:lnSpc>
                  <a:spcPts val="2520"/>
                </a:lnSpc>
              </a:pPr>
              <a:r>
                <a:rPr lang="en-US" sz="2100" spc="-115">
                  <a:solidFill>
                    <a:srgbClr val="F0F4F8"/>
                  </a:solidFill>
                  <a:latin typeface="Work Sans"/>
                  <a:ea typeface="Work Sans"/>
                  <a:cs typeface="Work Sans"/>
                  <a:sym typeface="Work Sans"/>
                </a:rPr>
                <a:t>The </a:t>
              </a:r>
              <a:r>
                <a:rPr lang="en-US" sz="2100" spc="-115" b="true">
                  <a:solidFill>
                    <a:srgbClr val="F0F4F8"/>
                  </a:solidFill>
                  <a:latin typeface="Work Sans Bold"/>
                  <a:ea typeface="Work Sans Bold"/>
                  <a:cs typeface="Work Sans Bold"/>
                  <a:sym typeface="Work Sans Bold"/>
                </a:rPr>
                <a:t>Daily Planner</a:t>
              </a:r>
              <a:r>
                <a:rPr lang="en-US" sz="2100" spc="-115">
                  <a:solidFill>
                    <a:srgbClr val="F0F4F8"/>
                  </a:solidFill>
                  <a:latin typeface="Work Sans"/>
                  <a:ea typeface="Work Sans"/>
                  <a:cs typeface="Work Sans"/>
                  <a:sym typeface="Work Sans"/>
                </a:rPr>
                <a:t> helps students manage their time effectively.</a:t>
              </a:r>
            </a:p>
            <a:p>
              <a:pPr algn="l" marL="0" indent="0" lvl="0">
                <a:lnSpc>
                  <a:spcPts val="2520"/>
                </a:lnSpc>
              </a:pPr>
              <a:r>
                <a:rPr lang="en-US" sz="2100" spc="-115">
                  <a:solidFill>
                    <a:srgbClr val="F0F4F8"/>
                  </a:solidFill>
                  <a:latin typeface="Work Sans"/>
                  <a:ea typeface="Work Sans"/>
                  <a:cs typeface="Work Sans"/>
                  <a:sym typeface="Work Sans"/>
                </a:rPr>
                <a:t>With a clean and intuitive layout, it allows users to schedule study sessions, assignments, and breaks with ease — keeping them organized and focused throughout the day for improved productivity.</a:t>
              </a:r>
            </a:p>
          </p:txBody>
        </p:sp>
        <p:sp>
          <p:nvSpPr>
            <p:cNvPr name="TextBox 6" id="6"/>
            <p:cNvSpPr txBox="true"/>
            <p:nvPr/>
          </p:nvSpPr>
          <p:spPr>
            <a:xfrm rot="0">
              <a:off x="0" y="133350"/>
              <a:ext cx="9182100" cy="12848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F0F4F8"/>
                  </a:solidFill>
                  <a:latin typeface="Work Sans Semi-Bold"/>
                  <a:ea typeface="Work Sans Semi-Bold"/>
                  <a:cs typeface="Work Sans Semi-Bold"/>
                  <a:sym typeface="Work Sans Semi-Bold"/>
                </a:rPr>
                <a:t>Daily Planner</a:t>
              </a:r>
            </a:p>
          </p:txBody>
        </p:sp>
      </p:grpSp>
      <p:grpSp>
        <p:nvGrpSpPr>
          <p:cNvPr name="Group 7" id="7"/>
          <p:cNvGrpSpPr/>
          <p:nvPr/>
        </p:nvGrpSpPr>
        <p:grpSpPr>
          <a:xfrm rot="0">
            <a:off x="10312605" y="981075"/>
            <a:ext cx="6946695" cy="7471274"/>
            <a:chOff x="0" y="0"/>
            <a:chExt cx="3482081" cy="3745030"/>
          </a:xfrm>
        </p:grpSpPr>
        <p:sp>
          <p:nvSpPr>
            <p:cNvPr name="Freeform 8" id="8"/>
            <p:cNvSpPr/>
            <p:nvPr/>
          </p:nvSpPr>
          <p:spPr>
            <a:xfrm flipH="false" flipV="false" rot="0">
              <a:off x="54483" y="50038"/>
              <a:ext cx="3372988" cy="3645589"/>
            </a:xfrm>
            <a:custGeom>
              <a:avLst/>
              <a:gdLst/>
              <a:ahLst/>
              <a:cxnLst/>
              <a:rect r="r" b="b" t="t" l="l"/>
              <a:pathLst>
                <a:path h="3645589" w="3372988">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0" t="-12" r="0" b="-12"/>
              </a:stretch>
            </a:blipFill>
          </p:spPr>
        </p:sp>
        <p:sp>
          <p:nvSpPr>
            <p:cNvPr name="Freeform 9" id="9"/>
            <p:cNvSpPr/>
            <p:nvPr/>
          </p:nvSpPr>
          <p:spPr>
            <a:xfrm flipH="false" flipV="false" rot="0">
              <a:off x="0" y="0"/>
              <a:ext cx="3481954" cy="3744903"/>
            </a:xfrm>
            <a:custGeom>
              <a:avLst/>
              <a:gdLst/>
              <a:ahLst/>
              <a:cxnLst/>
              <a:rect r="r" b="b" t="t" l="l"/>
              <a:pathLst>
                <a:path h="3744903" w="3481954">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F0F4F8"/>
            </a:solid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3299803" cy="1742593"/>
          </a:xfrm>
        </p:grpSpPr>
        <p:sp>
          <p:nvSpPr>
            <p:cNvPr name="Freeform 3" id="3"/>
            <p:cNvSpPr/>
            <p:nvPr/>
          </p:nvSpPr>
          <p:spPr>
            <a:xfrm flipH="false" flipV="false" rot="0">
              <a:off x="0" y="0"/>
              <a:ext cx="3299803" cy="1742587"/>
            </a:xfrm>
            <a:custGeom>
              <a:avLst/>
              <a:gdLst/>
              <a:ahLst/>
              <a:cxnLst/>
              <a:rect r="r" b="b" t="t" l="l"/>
              <a:pathLst>
                <a:path h="1742587" w="3299803">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1473E6"/>
            </a:solidFill>
            <a:ln cap="rnd" w="12700">
              <a:solidFill>
                <a:srgbClr val="000000"/>
              </a:solidFill>
              <a:prstDash val="solid"/>
              <a:round/>
            </a:ln>
          </p:spPr>
        </p:sp>
      </p:grpSp>
      <p:grpSp>
        <p:nvGrpSpPr>
          <p:cNvPr name="Group 4" id="4"/>
          <p:cNvGrpSpPr/>
          <p:nvPr/>
        </p:nvGrpSpPr>
        <p:grpSpPr>
          <a:xfrm rot="0">
            <a:off x="2105025" y="1562100"/>
            <a:ext cx="6886575" cy="3713217"/>
            <a:chOff x="0" y="0"/>
            <a:chExt cx="9182100" cy="4950956"/>
          </a:xfrm>
        </p:grpSpPr>
        <p:sp>
          <p:nvSpPr>
            <p:cNvPr name="TextBox 5" id="5"/>
            <p:cNvSpPr txBox="true"/>
            <p:nvPr/>
          </p:nvSpPr>
          <p:spPr>
            <a:xfrm rot="0">
              <a:off x="0" y="1588631"/>
              <a:ext cx="7264400" cy="3362325"/>
            </a:xfrm>
            <a:prstGeom prst="rect">
              <a:avLst/>
            </a:prstGeom>
          </p:spPr>
          <p:txBody>
            <a:bodyPr anchor="t" rtlCol="false" tIns="0" lIns="0" bIns="0" rIns="0">
              <a:spAutoFit/>
            </a:bodyPr>
            <a:lstStyle/>
            <a:p>
              <a:pPr algn="l" marL="0" indent="0" lvl="0">
                <a:lnSpc>
                  <a:spcPts val="2520"/>
                </a:lnSpc>
              </a:pPr>
              <a:r>
                <a:rPr lang="en-US" sz="2100" spc="-115">
                  <a:solidFill>
                    <a:srgbClr val="F0F4F8"/>
                  </a:solidFill>
                  <a:latin typeface="Work Sans"/>
                  <a:ea typeface="Work Sans"/>
                  <a:cs typeface="Work Sans"/>
                  <a:sym typeface="Work Sans"/>
                </a:rPr>
                <a:t>Our AI Study Tools enhance learning by offering personalized resources, smart recommendations, and interactive study features. These tools help students understand complex concepts, optimize study time, and track their progress in a user-friendly environment tailored to their learning needs.</a:t>
              </a:r>
            </a:p>
          </p:txBody>
        </p:sp>
        <p:sp>
          <p:nvSpPr>
            <p:cNvPr name="TextBox 6" id="6"/>
            <p:cNvSpPr txBox="true"/>
            <p:nvPr/>
          </p:nvSpPr>
          <p:spPr>
            <a:xfrm rot="0">
              <a:off x="0" y="133350"/>
              <a:ext cx="9182100" cy="12848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F0F4F8"/>
                  </a:solidFill>
                  <a:latin typeface="Work Sans Semi-Bold"/>
                  <a:ea typeface="Work Sans Semi-Bold"/>
                  <a:cs typeface="Work Sans Semi-Bold"/>
                  <a:sym typeface="Work Sans Semi-Bold"/>
                </a:rPr>
                <a:t>AI Tools</a:t>
              </a:r>
            </a:p>
          </p:txBody>
        </p:sp>
      </p:grpSp>
      <p:grpSp>
        <p:nvGrpSpPr>
          <p:cNvPr name="Group 7" id="7"/>
          <p:cNvGrpSpPr/>
          <p:nvPr/>
        </p:nvGrpSpPr>
        <p:grpSpPr>
          <a:xfrm rot="0">
            <a:off x="10312605" y="981075"/>
            <a:ext cx="6946695" cy="7471274"/>
            <a:chOff x="0" y="0"/>
            <a:chExt cx="3482081" cy="3745030"/>
          </a:xfrm>
        </p:grpSpPr>
        <p:sp>
          <p:nvSpPr>
            <p:cNvPr name="Freeform 8" id="8"/>
            <p:cNvSpPr/>
            <p:nvPr/>
          </p:nvSpPr>
          <p:spPr>
            <a:xfrm flipH="false" flipV="false" rot="0">
              <a:off x="54483" y="50038"/>
              <a:ext cx="3372988" cy="3645589"/>
            </a:xfrm>
            <a:custGeom>
              <a:avLst/>
              <a:gdLst/>
              <a:ahLst/>
              <a:cxnLst/>
              <a:rect r="r" b="b" t="t" l="l"/>
              <a:pathLst>
                <a:path h="3645589" w="3372988">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0" t="-12" r="0" b="-12"/>
              </a:stretch>
            </a:blipFill>
          </p:spPr>
        </p:sp>
        <p:sp>
          <p:nvSpPr>
            <p:cNvPr name="Freeform 9" id="9"/>
            <p:cNvSpPr/>
            <p:nvPr/>
          </p:nvSpPr>
          <p:spPr>
            <a:xfrm flipH="false" flipV="false" rot="0">
              <a:off x="0" y="0"/>
              <a:ext cx="3481954" cy="3744903"/>
            </a:xfrm>
            <a:custGeom>
              <a:avLst/>
              <a:gdLst/>
              <a:ahLst/>
              <a:cxnLst/>
              <a:rect r="r" b="b" t="t" l="l"/>
              <a:pathLst>
                <a:path h="3744903" w="3481954">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F0F4F8"/>
            </a:solid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3299803" cy="1742593"/>
          </a:xfrm>
        </p:grpSpPr>
        <p:sp>
          <p:nvSpPr>
            <p:cNvPr name="Freeform 3" id="3"/>
            <p:cNvSpPr/>
            <p:nvPr/>
          </p:nvSpPr>
          <p:spPr>
            <a:xfrm flipH="false" flipV="false" rot="0">
              <a:off x="0" y="0"/>
              <a:ext cx="3299803" cy="1742587"/>
            </a:xfrm>
            <a:custGeom>
              <a:avLst/>
              <a:gdLst/>
              <a:ahLst/>
              <a:cxnLst/>
              <a:rect r="r" b="b" t="t" l="l"/>
              <a:pathLst>
                <a:path h="1742587" w="3299803">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1473E6"/>
            </a:solidFill>
            <a:ln cap="rnd" w="12700">
              <a:solidFill>
                <a:srgbClr val="000000"/>
              </a:solidFill>
              <a:prstDash val="solid"/>
              <a:round/>
            </a:ln>
          </p:spPr>
        </p:sp>
      </p:grpSp>
      <p:grpSp>
        <p:nvGrpSpPr>
          <p:cNvPr name="Group 4" id="4"/>
          <p:cNvGrpSpPr/>
          <p:nvPr/>
        </p:nvGrpSpPr>
        <p:grpSpPr>
          <a:xfrm rot="0">
            <a:off x="2105025" y="1562100"/>
            <a:ext cx="6886575" cy="3713217"/>
            <a:chOff x="0" y="0"/>
            <a:chExt cx="9182100" cy="4950956"/>
          </a:xfrm>
        </p:grpSpPr>
        <p:sp>
          <p:nvSpPr>
            <p:cNvPr name="TextBox 5" id="5"/>
            <p:cNvSpPr txBox="true"/>
            <p:nvPr/>
          </p:nvSpPr>
          <p:spPr>
            <a:xfrm rot="0">
              <a:off x="0" y="1588631"/>
              <a:ext cx="7264400" cy="3362325"/>
            </a:xfrm>
            <a:prstGeom prst="rect">
              <a:avLst/>
            </a:prstGeom>
          </p:spPr>
          <p:txBody>
            <a:bodyPr anchor="t" rtlCol="false" tIns="0" lIns="0" bIns="0" rIns="0">
              <a:spAutoFit/>
            </a:bodyPr>
            <a:lstStyle/>
            <a:p>
              <a:pPr algn="l">
                <a:lnSpc>
                  <a:spcPts val="2520"/>
                </a:lnSpc>
              </a:pPr>
              <a:r>
                <a:rPr lang="en-US" sz="2100" spc="-115">
                  <a:solidFill>
                    <a:srgbClr val="F0F4F8"/>
                  </a:solidFill>
                  <a:latin typeface="Work Sans"/>
                  <a:ea typeface="Work Sans"/>
                  <a:cs typeface="Work Sans"/>
                  <a:sym typeface="Work Sans"/>
                </a:rPr>
                <a:t>The Calendar &amp; Tasks feature helps students manage their schedules, deadlines, and events with ease. The intuitive interface allows users to organize tasks, set reminders, and prioritize their studies, ensuring a productive and personalized academic experience.</a:t>
              </a:r>
            </a:p>
            <a:p>
              <a:pPr algn="l" marL="0" indent="0" lvl="0">
                <a:lnSpc>
                  <a:spcPts val="2520"/>
                </a:lnSpc>
              </a:pPr>
            </a:p>
          </p:txBody>
        </p:sp>
        <p:sp>
          <p:nvSpPr>
            <p:cNvPr name="TextBox 6" id="6"/>
            <p:cNvSpPr txBox="true"/>
            <p:nvPr/>
          </p:nvSpPr>
          <p:spPr>
            <a:xfrm rot="0">
              <a:off x="0" y="133350"/>
              <a:ext cx="9182100" cy="12848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F0F4F8"/>
                  </a:solidFill>
                  <a:latin typeface="Work Sans Semi-Bold"/>
                  <a:ea typeface="Work Sans Semi-Bold"/>
                  <a:cs typeface="Work Sans Semi-Bold"/>
                  <a:sym typeface="Work Sans Semi-Bold"/>
                </a:rPr>
                <a:t>Calendar &amp; Tasks</a:t>
              </a:r>
            </a:p>
          </p:txBody>
        </p:sp>
      </p:grpSp>
      <p:grpSp>
        <p:nvGrpSpPr>
          <p:cNvPr name="Group 7" id="7"/>
          <p:cNvGrpSpPr/>
          <p:nvPr/>
        </p:nvGrpSpPr>
        <p:grpSpPr>
          <a:xfrm rot="0">
            <a:off x="10312605" y="981075"/>
            <a:ext cx="6946695" cy="7471274"/>
            <a:chOff x="0" y="0"/>
            <a:chExt cx="3482081" cy="3745030"/>
          </a:xfrm>
        </p:grpSpPr>
        <p:sp>
          <p:nvSpPr>
            <p:cNvPr name="Freeform 8" id="8"/>
            <p:cNvSpPr/>
            <p:nvPr/>
          </p:nvSpPr>
          <p:spPr>
            <a:xfrm flipH="false" flipV="false" rot="0">
              <a:off x="54483" y="50038"/>
              <a:ext cx="3372988" cy="3645589"/>
            </a:xfrm>
            <a:custGeom>
              <a:avLst/>
              <a:gdLst/>
              <a:ahLst/>
              <a:cxnLst/>
              <a:rect r="r" b="b" t="t" l="l"/>
              <a:pathLst>
                <a:path h="3645589" w="3372988">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0" t="-12" r="0" b="-12"/>
              </a:stretch>
            </a:blipFill>
          </p:spPr>
        </p:sp>
        <p:sp>
          <p:nvSpPr>
            <p:cNvPr name="Freeform 9" id="9"/>
            <p:cNvSpPr/>
            <p:nvPr/>
          </p:nvSpPr>
          <p:spPr>
            <a:xfrm flipH="false" flipV="false" rot="0">
              <a:off x="0" y="0"/>
              <a:ext cx="3481954" cy="3744903"/>
            </a:xfrm>
            <a:custGeom>
              <a:avLst/>
              <a:gdLst/>
              <a:ahLst/>
              <a:cxnLst/>
              <a:rect r="r" b="b" t="t" l="l"/>
              <a:pathLst>
                <a:path h="3744903" w="3481954">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F0F4F8"/>
            </a:solid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3299803" cy="1742593"/>
          </a:xfrm>
        </p:grpSpPr>
        <p:sp>
          <p:nvSpPr>
            <p:cNvPr name="Freeform 3" id="3"/>
            <p:cNvSpPr/>
            <p:nvPr/>
          </p:nvSpPr>
          <p:spPr>
            <a:xfrm flipH="false" flipV="false" rot="0">
              <a:off x="0" y="0"/>
              <a:ext cx="3299803" cy="1742587"/>
            </a:xfrm>
            <a:custGeom>
              <a:avLst/>
              <a:gdLst/>
              <a:ahLst/>
              <a:cxnLst/>
              <a:rect r="r" b="b" t="t" l="l"/>
              <a:pathLst>
                <a:path h="1742587" w="3299803">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1473E6"/>
            </a:solidFill>
            <a:ln cap="rnd" w="12700">
              <a:solidFill>
                <a:srgbClr val="000000"/>
              </a:solidFill>
              <a:prstDash val="solid"/>
              <a:round/>
            </a:ln>
          </p:spPr>
        </p:sp>
      </p:grpSp>
      <p:grpSp>
        <p:nvGrpSpPr>
          <p:cNvPr name="Group 4" id="4"/>
          <p:cNvGrpSpPr/>
          <p:nvPr/>
        </p:nvGrpSpPr>
        <p:grpSpPr>
          <a:xfrm rot="0">
            <a:off x="2105025" y="1562100"/>
            <a:ext cx="6886575" cy="3398892"/>
            <a:chOff x="0" y="0"/>
            <a:chExt cx="9182100" cy="4531856"/>
          </a:xfrm>
        </p:grpSpPr>
        <p:sp>
          <p:nvSpPr>
            <p:cNvPr name="TextBox 5" id="5"/>
            <p:cNvSpPr txBox="true"/>
            <p:nvPr/>
          </p:nvSpPr>
          <p:spPr>
            <a:xfrm rot="0">
              <a:off x="0" y="1588631"/>
              <a:ext cx="7264400" cy="2943225"/>
            </a:xfrm>
            <a:prstGeom prst="rect">
              <a:avLst/>
            </a:prstGeom>
          </p:spPr>
          <p:txBody>
            <a:bodyPr anchor="t" rtlCol="false" tIns="0" lIns="0" bIns="0" rIns="0">
              <a:spAutoFit/>
            </a:bodyPr>
            <a:lstStyle/>
            <a:p>
              <a:pPr algn="l" marL="0" indent="0" lvl="0">
                <a:lnSpc>
                  <a:spcPts val="2520"/>
                </a:lnSpc>
              </a:pPr>
              <a:r>
                <a:rPr lang="en-US" sz="2100" spc="-115">
                  <a:solidFill>
                    <a:srgbClr val="F0F4F8"/>
                  </a:solidFill>
                  <a:latin typeface="Work Sans"/>
                  <a:ea typeface="Work Sans"/>
                  <a:cs typeface="Work Sans"/>
                  <a:sym typeface="Work Sans"/>
                </a:rPr>
                <a:t>The Profile Page provides students with a personalized dashboard showing their study progress, XP level, streaks, completed sessions, and achievements. The XP Level and Streaks system motivates users to stay consistent by tracking goals and offering insights based on their study habits.</a:t>
              </a:r>
            </a:p>
          </p:txBody>
        </p:sp>
        <p:sp>
          <p:nvSpPr>
            <p:cNvPr name="TextBox 6" id="6"/>
            <p:cNvSpPr txBox="true"/>
            <p:nvPr/>
          </p:nvSpPr>
          <p:spPr>
            <a:xfrm rot="0">
              <a:off x="0" y="133350"/>
              <a:ext cx="9182100" cy="12848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F0F4F8"/>
                  </a:solidFill>
                  <a:latin typeface="Work Sans Semi-Bold"/>
                  <a:ea typeface="Work Sans Semi-Bold"/>
                  <a:cs typeface="Work Sans Semi-Bold"/>
                  <a:sym typeface="Work Sans Semi-Bold"/>
                </a:rPr>
                <a:t>Profile</a:t>
              </a:r>
            </a:p>
          </p:txBody>
        </p:sp>
      </p:grpSp>
      <p:grpSp>
        <p:nvGrpSpPr>
          <p:cNvPr name="Group 7" id="7"/>
          <p:cNvGrpSpPr/>
          <p:nvPr/>
        </p:nvGrpSpPr>
        <p:grpSpPr>
          <a:xfrm rot="0">
            <a:off x="10312605" y="981075"/>
            <a:ext cx="6946695" cy="7471274"/>
            <a:chOff x="0" y="0"/>
            <a:chExt cx="3482081" cy="3745030"/>
          </a:xfrm>
        </p:grpSpPr>
        <p:sp>
          <p:nvSpPr>
            <p:cNvPr name="Freeform 8" id="8"/>
            <p:cNvSpPr/>
            <p:nvPr/>
          </p:nvSpPr>
          <p:spPr>
            <a:xfrm flipH="false" flipV="false" rot="0">
              <a:off x="54483" y="50038"/>
              <a:ext cx="3372988" cy="3645589"/>
            </a:xfrm>
            <a:custGeom>
              <a:avLst/>
              <a:gdLst/>
              <a:ahLst/>
              <a:cxnLst/>
              <a:rect r="r" b="b" t="t" l="l"/>
              <a:pathLst>
                <a:path h="3645589" w="3372988">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0" t="-12" r="0" b="-12"/>
              </a:stretch>
            </a:blipFill>
          </p:spPr>
        </p:sp>
        <p:sp>
          <p:nvSpPr>
            <p:cNvPr name="Freeform 9" id="9"/>
            <p:cNvSpPr/>
            <p:nvPr/>
          </p:nvSpPr>
          <p:spPr>
            <a:xfrm flipH="false" flipV="false" rot="0">
              <a:off x="0" y="0"/>
              <a:ext cx="3481954" cy="3744903"/>
            </a:xfrm>
            <a:custGeom>
              <a:avLst/>
              <a:gdLst/>
              <a:ahLst/>
              <a:cxnLst/>
              <a:rect r="r" b="b" t="t" l="l"/>
              <a:pathLst>
                <a:path h="3744903" w="3481954">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F0F4F8"/>
            </a:solid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3299803" cy="1742593"/>
          </a:xfrm>
        </p:grpSpPr>
        <p:sp>
          <p:nvSpPr>
            <p:cNvPr name="Freeform 3" id="3"/>
            <p:cNvSpPr/>
            <p:nvPr/>
          </p:nvSpPr>
          <p:spPr>
            <a:xfrm flipH="false" flipV="false" rot="0">
              <a:off x="0" y="0"/>
              <a:ext cx="3299803" cy="1742587"/>
            </a:xfrm>
            <a:custGeom>
              <a:avLst/>
              <a:gdLst/>
              <a:ahLst/>
              <a:cxnLst/>
              <a:rect r="r" b="b" t="t" l="l"/>
              <a:pathLst>
                <a:path h="1742587" w="3299803">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close/>
                </a:path>
              </a:pathLst>
            </a:custGeom>
            <a:solidFill>
              <a:srgbClr val="1473E6"/>
            </a:solidFill>
            <a:ln w="12700">
              <a:solidFill>
                <a:srgbClr val="000000"/>
              </a:solidFill>
            </a:ln>
          </p:spPr>
        </p:sp>
      </p:grpSp>
      <p:grpSp>
        <p:nvGrpSpPr>
          <p:cNvPr name="Group 4" id="4"/>
          <p:cNvGrpSpPr/>
          <p:nvPr/>
        </p:nvGrpSpPr>
        <p:grpSpPr>
          <a:xfrm rot="0">
            <a:off x="2105025" y="1562100"/>
            <a:ext cx="9662408" cy="4491445"/>
            <a:chOff x="0" y="0"/>
            <a:chExt cx="12883210" cy="5988593"/>
          </a:xfrm>
        </p:grpSpPr>
        <p:sp>
          <p:nvSpPr>
            <p:cNvPr name="TextBox 5" id="5"/>
            <p:cNvSpPr txBox="true"/>
            <p:nvPr/>
          </p:nvSpPr>
          <p:spPr>
            <a:xfrm rot="0">
              <a:off x="0" y="133350"/>
              <a:ext cx="12883210" cy="12848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F0F4F8"/>
                  </a:solidFill>
                  <a:latin typeface="Work Sans Semi-Bold"/>
                  <a:ea typeface="Work Sans Semi-Bold"/>
                  <a:cs typeface="Work Sans Semi-Bold"/>
                  <a:sym typeface="Work Sans Semi-Bold"/>
                </a:rPr>
                <a:t>Methodology</a:t>
              </a:r>
            </a:p>
          </p:txBody>
        </p:sp>
        <p:sp>
          <p:nvSpPr>
            <p:cNvPr name="TextBox 6" id="6"/>
            <p:cNvSpPr txBox="true"/>
            <p:nvPr/>
          </p:nvSpPr>
          <p:spPr>
            <a:xfrm rot="0">
              <a:off x="0" y="1755253"/>
              <a:ext cx="12883210" cy="628650"/>
            </a:xfrm>
            <a:prstGeom prst="rect">
              <a:avLst/>
            </a:prstGeom>
          </p:spPr>
          <p:txBody>
            <a:bodyPr anchor="t" rtlCol="false" tIns="0" lIns="0" bIns="0" rIns="0">
              <a:spAutoFit/>
            </a:bodyPr>
            <a:lstStyle/>
            <a:p>
              <a:pPr algn="l" marL="0" indent="0" lvl="0">
                <a:lnSpc>
                  <a:spcPts val="3600"/>
                </a:lnSpc>
                <a:spcBef>
                  <a:spcPct val="0"/>
                </a:spcBef>
              </a:pPr>
              <a:r>
                <a:rPr lang="en-US" b="true" sz="3000" spc="-165" strike="noStrike" u="none">
                  <a:solidFill>
                    <a:srgbClr val="F0F4F8"/>
                  </a:solidFill>
                  <a:latin typeface="Work Sans Semi-Bold"/>
                  <a:ea typeface="Work Sans Semi-Bold"/>
                  <a:cs typeface="Work Sans Semi-Bold"/>
                  <a:sym typeface="Work Sans Semi-Bold"/>
                </a:rPr>
                <a:t>Research Approach and Data Collection</a:t>
              </a:r>
            </a:p>
          </p:txBody>
        </p:sp>
        <p:sp>
          <p:nvSpPr>
            <p:cNvPr name="TextBox 7" id="7"/>
            <p:cNvSpPr txBox="true"/>
            <p:nvPr/>
          </p:nvSpPr>
          <p:spPr>
            <a:xfrm rot="0">
              <a:off x="0" y="3252378"/>
              <a:ext cx="8795922" cy="2736215"/>
            </a:xfrm>
            <a:prstGeom prst="rect">
              <a:avLst/>
            </a:prstGeom>
          </p:spPr>
          <p:txBody>
            <a:bodyPr anchor="t" rtlCol="false" tIns="0" lIns="0" bIns="0" rIns="0">
              <a:spAutoFit/>
            </a:bodyPr>
            <a:lstStyle/>
            <a:p>
              <a:pPr algn="l">
                <a:lnSpc>
                  <a:spcPts val="2730"/>
                </a:lnSpc>
              </a:pPr>
              <a:r>
                <a:rPr lang="en-US" sz="2100" spc="-115">
                  <a:solidFill>
                    <a:srgbClr val="F0F4F8"/>
                  </a:solidFill>
                  <a:latin typeface="Work Sans"/>
                  <a:ea typeface="Work Sans"/>
                  <a:cs typeface="Work Sans"/>
                  <a:sym typeface="Work Sans"/>
                </a:rPr>
                <a:t>Our research followed a </a:t>
              </a:r>
              <a:r>
                <a:rPr lang="en-US" sz="2100" spc="-115" b="true">
                  <a:solidFill>
                    <a:srgbClr val="F0F4F8"/>
                  </a:solidFill>
                  <a:latin typeface="Work Sans Bold"/>
                  <a:ea typeface="Work Sans Bold"/>
                  <a:cs typeface="Work Sans Bold"/>
                  <a:sym typeface="Work Sans Bold"/>
                </a:rPr>
                <a:t>mixed-methods approach</a:t>
              </a:r>
              <a:r>
                <a:rPr lang="en-US" sz="2100" spc="-115">
                  <a:solidFill>
                    <a:srgbClr val="F0F4F8"/>
                  </a:solidFill>
                  <a:latin typeface="Work Sans"/>
                  <a:ea typeface="Work Sans"/>
                  <a:cs typeface="Work Sans"/>
                  <a:sym typeface="Work Sans"/>
                </a:rPr>
                <a:t>, combining quantitative surveys with qualitative interviews. This allowed us to gather comprehensive insights into student productivity and their need for AI-driven study support.</a:t>
              </a:r>
            </a:p>
            <a:p>
              <a:pPr algn="l" marL="0" indent="0" lvl="0">
                <a:lnSpc>
                  <a:spcPts val="2730"/>
                </a:lnSpc>
              </a:pPr>
            </a:p>
          </p:txBody>
        </p:sp>
      </p:grpSp>
      <p:grpSp>
        <p:nvGrpSpPr>
          <p:cNvPr name="Group 8" id="8"/>
          <p:cNvGrpSpPr/>
          <p:nvPr/>
        </p:nvGrpSpPr>
        <p:grpSpPr>
          <a:xfrm rot="0">
            <a:off x="10312605" y="981075"/>
            <a:ext cx="6946695" cy="7471274"/>
            <a:chOff x="0" y="0"/>
            <a:chExt cx="3482081" cy="3745030"/>
          </a:xfrm>
        </p:grpSpPr>
        <p:sp>
          <p:nvSpPr>
            <p:cNvPr name="Freeform 9" id="9"/>
            <p:cNvSpPr/>
            <p:nvPr/>
          </p:nvSpPr>
          <p:spPr>
            <a:xfrm flipH="false" flipV="false" rot="0">
              <a:off x="54483" y="50038"/>
              <a:ext cx="3372988" cy="3645589"/>
            </a:xfrm>
            <a:custGeom>
              <a:avLst/>
              <a:gdLst/>
              <a:ahLst/>
              <a:cxnLst/>
              <a:rect r="r" b="b" t="t" l="l"/>
              <a:pathLst>
                <a:path h="3645589" w="3372988">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31061" t="0" r="-31061" b="0"/>
              </a:stretch>
            </a:blipFill>
          </p:spPr>
        </p:sp>
        <p:sp>
          <p:nvSpPr>
            <p:cNvPr name="Freeform 10" id="10"/>
            <p:cNvSpPr/>
            <p:nvPr/>
          </p:nvSpPr>
          <p:spPr>
            <a:xfrm flipH="false" flipV="false" rot="0">
              <a:off x="0" y="0"/>
              <a:ext cx="3481954" cy="3744903"/>
            </a:xfrm>
            <a:custGeom>
              <a:avLst/>
              <a:gdLst/>
              <a:ahLst/>
              <a:cxnLst/>
              <a:rect r="r" b="b" t="t" l="l"/>
              <a:pathLst>
                <a:path h="3744903" w="3481954">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F0F4F8"/>
            </a:solid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1473E6"/>
            </a:solidFill>
            <a:ln w="12700">
              <a:solidFill>
                <a:srgbClr val="000000"/>
              </a:solidFill>
            </a:ln>
          </p:spPr>
        </p:sp>
      </p:grpSp>
      <p:grpSp>
        <p:nvGrpSpPr>
          <p:cNvPr name="Group 4" id="4"/>
          <p:cNvGrpSpPr/>
          <p:nvPr/>
        </p:nvGrpSpPr>
        <p:grpSpPr>
          <a:xfrm rot="0">
            <a:off x="9296400" y="666750"/>
            <a:ext cx="8324850" cy="8953500"/>
            <a:chOff x="0" y="0"/>
            <a:chExt cx="2448748" cy="2633665"/>
          </a:xfrm>
        </p:grpSpPr>
        <p:sp>
          <p:nvSpPr>
            <p:cNvPr name="Freeform 5" id="5"/>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1473E6"/>
            </a:solidFill>
            <a:ln w="12700">
              <a:solidFill>
                <a:srgbClr val="000000"/>
              </a:solidFill>
            </a:ln>
          </p:spPr>
        </p:sp>
      </p:grpSp>
      <p:grpSp>
        <p:nvGrpSpPr>
          <p:cNvPr name="Group 6" id="6"/>
          <p:cNvGrpSpPr/>
          <p:nvPr/>
        </p:nvGrpSpPr>
        <p:grpSpPr>
          <a:xfrm rot="0">
            <a:off x="9881936" y="1190507"/>
            <a:ext cx="7153778" cy="7905985"/>
            <a:chOff x="0" y="0"/>
            <a:chExt cx="1935901" cy="2139458"/>
          </a:xfrm>
        </p:grpSpPr>
        <p:sp>
          <p:nvSpPr>
            <p:cNvPr name="Freeform 7" id="7"/>
            <p:cNvSpPr/>
            <p:nvPr/>
          </p:nvSpPr>
          <p:spPr>
            <a:xfrm flipH="false" flipV="false" rot="0">
              <a:off x="0" y="0"/>
              <a:ext cx="1935903" cy="2139471"/>
            </a:xfrm>
            <a:custGeom>
              <a:avLst/>
              <a:gdLst/>
              <a:ahLst/>
              <a:cxnLst/>
              <a:rect r="r" b="b" t="t" l="l"/>
              <a:pathLst>
                <a:path h="2139471" w="1935903">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5257" t="0" r="-5257" b="0"/>
              </a:stretch>
            </a:blipFill>
          </p:spPr>
        </p:sp>
      </p:grpSp>
      <p:grpSp>
        <p:nvGrpSpPr>
          <p:cNvPr name="Group 8" id="8"/>
          <p:cNvGrpSpPr/>
          <p:nvPr/>
        </p:nvGrpSpPr>
        <p:grpSpPr>
          <a:xfrm rot="0">
            <a:off x="1532047" y="1447416"/>
            <a:ext cx="6594256" cy="5470245"/>
            <a:chOff x="0" y="0"/>
            <a:chExt cx="8792341" cy="7293660"/>
          </a:xfrm>
        </p:grpSpPr>
        <p:sp>
          <p:nvSpPr>
            <p:cNvPr name="TextBox 9" id="9"/>
            <p:cNvSpPr txBox="true"/>
            <p:nvPr/>
          </p:nvSpPr>
          <p:spPr>
            <a:xfrm rot="0">
              <a:off x="63500" y="3643045"/>
              <a:ext cx="7214271" cy="3650615"/>
            </a:xfrm>
            <a:prstGeom prst="rect">
              <a:avLst/>
            </a:prstGeom>
          </p:spPr>
          <p:txBody>
            <a:bodyPr anchor="t" rtlCol="false" tIns="0" lIns="0" bIns="0" rIns="0">
              <a:spAutoFit/>
            </a:bodyPr>
            <a:lstStyle/>
            <a:p>
              <a:pPr algn="l">
                <a:lnSpc>
                  <a:spcPts val="2730"/>
                </a:lnSpc>
              </a:pPr>
              <a:r>
                <a:rPr lang="en-US" sz="2100" spc="-115">
                  <a:solidFill>
                    <a:srgbClr val="F0F4F8"/>
                  </a:solidFill>
                  <a:latin typeface="Work Sans"/>
                  <a:ea typeface="Work Sans"/>
                  <a:cs typeface="Work Sans"/>
                  <a:sym typeface="Work Sans"/>
                </a:rPr>
                <a:t>Students struggle with distractions, poor planning, and inconsistent study routines.</a:t>
              </a:r>
            </a:p>
            <a:p>
              <a:pPr algn="l">
                <a:lnSpc>
                  <a:spcPts val="2730"/>
                </a:lnSpc>
              </a:pPr>
              <a:r>
                <a:rPr lang="en-US" sz="2100" spc="-115">
                  <a:solidFill>
                    <a:srgbClr val="F0F4F8"/>
                  </a:solidFill>
                  <a:latin typeface="Work Sans"/>
                  <a:ea typeface="Work Sans"/>
                  <a:cs typeface="Work Sans"/>
                  <a:sym typeface="Work Sans"/>
                </a:rPr>
                <a:t>Our project provides simple digital tools to help them stay organized, focused, and motivated.</a:t>
              </a:r>
            </a:p>
            <a:p>
              <a:pPr algn="l" marL="0" indent="0" lvl="0">
                <a:lnSpc>
                  <a:spcPts val="2730"/>
                </a:lnSpc>
              </a:pPr>
              <a:r>
                <a:rPr lang="en-US" sz="2100" spc="-115">
                  <a:solidFill>
                    <a:srgbClr val="F0F4F8"/>
                  </a:solidFill>
                  <a:latin typeface="Work Sans"/>
                  <a:ea typeface="Work Sans"/>
                  <a:cs typeface="Work Sans"/>
                  <a:sym typeface="Work Sans"/>
                </a:rPr>
                <a:t>It encourages better study habits through timers, planners, calendars, and streak-based progress.</a:t>
              </a:r>
            </a:p>
          </p:txBody>
        </p:sp>
        <p:sp>
          <p:nvSpPr>
            <p:cNvPr name="TextBox 10" id="10"/>
            <p:cNvSpPr txBox="true"/>
            <p:nvPr/>
          </p:nvSpPr>
          <p:spPr>
            <a:xfrm rot="0">
              <a:off x="0" y="133350"/>
              <a:ext cx="8792341" cy="2465917"/>
            </a:xfrm>
            <a:prstGeom prst="rect">
              <a:avLst/>
            </a:prstGeom>
          </p:spPr>
          <p:txBody>
            <a:bodyPr anchor="t" rtlCol="false" tIns="0" lIns="0" bIns="0" rIns="0">
              <a:spAutoFit/>
            </a:bodyPr>
            <a:lstStyle/>
            <a:p>
              <a:pPr algn="l" marL="0" indent="0" lvl="0">
                <a:lnSpc>
                  <a:spcPts val="6999"/>
                </a:lnSpc>
              </a:pPr>
              <a:r>
                <a:rPr lang="en-US" b="true" sz="6999" spc="-384">
                  <a:solidFill>
                    <a:srgbClr val="F0F4F8"/>
                  </a:solidFill>
                  <a:latin typeface="Work Sans Bold"/>
                  <a:ea typeface="Work Sans Bold"/>
                  <a:cs typeface="Work Sans Bold"/>
                  <a:sym typeface="Work Sans Bold"/>
                </a:rPr>
                <a:t>Why This Project Matters</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3299803" cy="1742593"/>
          </a:xfrm>
        </p:grpSpPr>
        <p:sp>
          <p:nvSpPr>
            <p:cNvPr name="Freeform 3" id="3"/>
            <p:cNvSpPr/>
            <p:nvPr/>
          </p:nvSpPr>
          <p:spPr>
            <a:xfrm flipH="false" flipV="false" rot="0">
              <a:off x="0" y="0"/>
              <a:ext cx="3299803" cy="1742587"/>
            </a:xfrm>
            <a:custGeom>
              <a:avLst/>
              <a:gdLst/>
              <a:ahLst/>
              <a:cxnLst/>
              <a:rect r="r" b="b" t="t" l="l"/>
              <a:pathLst>
                <a:path h="1742587" w="3299803">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1473E6"/>
            </a:solidFill>
            <a:ln cap="rnd" w="12700">
              <a:solidFill>
                <a:srgbClr val="000000"/>
              </a:solidFill>
              <a:prstDash val="solid"/>
              <a:round/>
            </a:ln>
          </p:spPr>
        </p:sp>
      </p:grpSp>
      <p:grpSp>
        <p:nvGrpSpPr>
          <p:cNvPr name="Group 4" id="4"/>
          <p:cNvGrpSpPr/>
          <p:nvPr/>
        </p:nvGrpSpPr>
        <p:grpSpPr>
          <a:xfrm rot="0">
            <a:off x="2105025" y="1562100"/>
            <a:ext cx="6886575" cy="5284842"/>
            <a:chOff x="0" y="0"/>
            <a:chExt cx="9182100" cy="7046456"/>
          </a:xfrm>
        </p:grpSpPr>
        <p:sp>
          <p:nvSpPr>
            <p:cNvPr name="TextBox 5" id="5"/>
            <p:cNvSpPr txBox="true"/>
            <p:nvPr/>
          </p:nvSpPr>
          <p:spPr>
            <a:xfrm rot="0">
              <a:off x="0" y="1588631"/>
              <a:ext cx="7264400" cy="5457825"/>
            </a:xfrm>
            <a:prstGeom prst="rect">
              <a:avLst/>
            </a:prstGeom>
          </p:spPr>
          <p:txBody>
            <a:bodyPr anchor="t" rtlCol="false" tIns="0" lIns="0" bIns="0" rIns="0">
              <a:spAutoFit/>
            </a:bodyPr>
            <a:lstStyle/>
            <a:p>
              <a:pPr algn="l">
                <a:lnSpc>
                  <a:spcPts val="2520"/>
                </a:lnSpc>
              </a:pPr>
              <a:r>
                <a:rPr lang="en-US" sz="2100" spc="-115">
                  <a:solidFill>
                    <a:srgbClr val="F0F4F8"/>
                  </a:solidFill>
                  <a:latin typeface="Work Sans"/>
                  <a:ea typeface="Work Sans"/>
                  <a:cs typeface="Work Sans"/>
                  <a:sym typeface="Work Sans"/>
                </a:rPr>
                <a:t>Below are the main resources for our FOCUS project.</a:t>
              </a:r>
            </a:p>
            <a:p>
              <a:pPr algn="l">
                <a:lnSpc>
                  <a:spcPts val="2520"/>
                </a:lnSpc>
              </a:pPr>
              <a:r>
                <a:rPr lang="en-US" sz="2100" spc="-115">
                  <a:solidFill>
                    <a:srgbClr val="F0F4F8"/>
                  </a:solidFill>
                  <a:latin typeface="Work Sans"/>
                  <a:ea typeface="Work Sans"/>
                  <a:cs typeface="Work Sans"/>
                  <a:sym typeface="Work Sans"/>
                </a:rPr>
                <a:t>These links provide access to the live website and the GitHub repository containing all project files and documentation.</a:t>
              </a:r>
            </a:p>
            <a:p>
              <a:pPr algn="l">
                <a:lnSpc>
                  <a:spcPts val="2520"/>
                </a:lnSpc>
              </a:pPr>
            </a:p>
            <a:p>
              <a:pPr algn="l">
                <a:lnSpc>
                  <a:spcPts val="2520"/>
                </a:lnSpc>
              </a:pPr>
              <a:r>
                <a:rPr lang="en-US" sz="2100" spc="-115">
                  <a:solidFill>
                    <a:srgbClr val="F0F4F8"/>
                  </a:solidFill>
                  <a:latin typeface="Work Sans"/>
                  <a:ea typeface="Work Sans"/>
                  <a:cs typeface="Work Sans"/>
                  <a:sym typeface="Work Sans"/>
                </a:rPr>
                <a:t>🔗 Live Website:</a:t>
              </a:r>
            </a:p>
            <a:p>
              <a:pPr algn="l">
                <a:lnSpc>
                  <a:spcPts val="2520"/>
                </a:lnSpc>
              </a:pPr>
              <a:r>
                <a:rPr lang="en-US" sz="2100" spc="-115" u="sng">
                  <a:solidFill>
                    <a:srgbClr val="F0F4F8"/>
                  </a:solidFill>
                  <a:latin typeface="Work Sans"/>
                  <a:ea typeface="Work Sans"/>
                  <a:cs typeface="Work Sans"/>
                  <a:sym typeface="Work Sans"/>
                </a:rPr>
                <a:t>https://coxx6j-my-site-1vp0llef-jagadish3506.wix-vibe.com/</a:t>
              </a:r>
            </a:p>
            <a:p>
              <a:pPr algn="l">
                <a:lnSpc>
                  <a:spcPts val="2520"/>
                </a:lnSpc>
              </a:pPr>
            </a:p>
            <a:p>
              <a:pPr algn="l">
                <a:lnSpc>
                  <a:spcPts val="2520"/>
                </a:lnSpc>
              </a:pPr>
              <a:r>
                <a:rPr lang="en-US" sz="2100" spc="-115">
                  <a:solidFill>
                    <a:srgbClr val="F0F4F8"/>
                  </a:solidFill>
                  <a:latin typeface="Work Sans"/>
                  <a:ea typeface="Work Sans"/>
                  <a:cs typeface="Work Sans"/>
                  <a:sym typeface="Work Sans"/>
                </a:rPr>
                <a:t>🔗 GitHub Repository:</a:t>
              </a:r>
            </a:p>
            <a:p>
              <a:pPr algn="l" marL="0" indent="0" lvl="0">
                <a:lnSpc>
                  <a:spcPts val="2520"/>
                </a:lnSpc>
              </a:pPr>
              <a:r>
                <a:rPr lang="en-US" sz="2100" spc="-115" u="sng">
                  <a:solidFill>
                    <a:srgbClr val="F0F4F8"/>
                  </a:solidFill>
                  <a:latin typeface="Work Sans"/>
                  <a:ea typeface="Work Sans"/>
                  <a:cs typeface="Work Sans"/>
                  <a:sym typeface="Work Sans"/>
                </a:rPr>
                <a:t>https://github.com/jagadish3506/focus-rest-hub</a:t>
              </a:r>
            </a:p>
          </p:txBody>
        </p:sp>
        <p:sp>
          <p:nvSpPr>
            <p:cNvPr name="TextBox 6" id="6"/>
            <p:cNvSpPr txBox="true"/>
            <p:nvPr/>
          </p:nvSpPr>
          <p:spPr>
            <a:xfrm rot="0">
              <a:off x="0" y="133350"/>
              <a:ext cx="9182100" cy="12848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F0F4F8"/>
                  </a:solidFill>
                  <a:latin typeface="Work Sans Semi-Bold"/>
                  <a:ea typeface="Work Sans Semi-Bold"/>
                  <a:cs typeface="Work Sans Semi-Bold"/>
                  <a:sym typeface="Work Sans Semi-Bold"/>
                </a:rPr>
                <a:t>Project Links</a:t>
              </a:r>
            </a:p>
          </p:txBody>
        </p:sp>
      </p:grpSp>
      <p:grpSp>
        <p:nvGrpSpPr>
          <p:cNvPr name="Group 7" id="7"/>
          <p:cNvGrpSpPr/>
          <p:nvPr/>
        </p:nvGrpSpPr>
        <p:grpSpPr>
          <a:xfrm rot="0">
            <a:off x="10312605" y="981075"/>
            <a:ext cx="6946695" cy="7471274"/>
            <a:chOff x="0" y="0"/>
            <a:chExt cx="3482081" cy="3745030"/>
          </a:xfrm>
        </p:grpSpPr>
        <p:sp>
          <p:nvSpPr>
            <p:cNvPr name="Freeform 8" id="8"/>
            <p:cNvSpPr/>
            <p:nvPr/>
          </p:nvSpPr>
          <p:spPr>
            <a:xfrm flipH="false" flipV="false" rot="0">
              <a:off x="54483" y="50038"/>
              <a:ext cx="3372988" cy="3645589"/>
            </a:xfrm>
            <a:custGeom>
              <a:avLst/>
              <a:gdLst/>
              <a:ahLst/>
              <a:cxnLst/>
              <a:rect r="r" b="b" t="t" l="l"/>
              <a:pathLst>
                <a:path h="3645589" w="3372988">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0" t="-12" r="0" b="-12"/>
              </a:stretch>
            </a:blipFill>
          </p:spPr>
        </p:sp>
        <p:sp>
          <p:nvSpPr>
            <p:cNvPr name="Freeform 9" id="9"/>
            <p:cNvSpPr/>
            <p:nvPr/>
          </p:nvSpPr>
          <p:spPr>
            <a:xfrm flipH="false" flipV="false" rot="0">
              <a:off x="0" y="0"/>
              <a:ext cx="3481954" cy="3744903"/>
            </a:xfrm>
            <a:custGeom>
              <a:avLst/>
              <a:gdLst/>
              <a:ahLst/>
              <a:cxnLst/>
              <a:rect r="r" b="b" t="t" l="l"/>
              <a:pathLst>
                <a:path h="3744903" w="3481954">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F0F4F8"/>
            </a:solid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2667955"/>
            <a:chOff x="0" y="0"/>
            <a:chExt cx="2465356" cy="790100"/>
          </a:xfrm>
        </p:grpSpPr>
        <p:sp>
          <p:nvSpPr>
            <p:cNvPr name="Freeform 3" id="3"/>
            <p:cNvSpPr/>
            <p:nvPr/>
          </p:nvSpPr>
          <p:spPr>
            <a:xfrm flipH="false" flipV="false" rot="0">
              <a:off x="0" y="0"/>
              <a:ext cx="2465359" cy="790100"/>
            </a:xfrm>
            <a:custGeom>
              <a:avLst/>
              <a:gdLst/>
              <a:ahLst/>
              <a:cxnLst/>
              <a:rect r="r" b="b" t="t" l="l"/>
              <a:pathLst>
                <a:path h="790100" w="2465359">
                  <a:moveTo>
                    <a:pt x="2118400" y="0"/>
                  </a:moveTo>
                  <a:lnTo>
                    <a:pt x="148415" y="0"/>
                  </a:lnTo>
                  <a:cubicBezTo>
                    <a:pt x="66448" y="0"/>
                    <a:pt x="0" y="66448"/>
                    <a:pt x="0" y="148415"/>
                  </a:cubicBezTo>
                  <a:lnTo>
                    <a:pt x="0" y="510707"/>
                  </a:lnTo>
                  <a:cubicBezTo>
                    <a:pt x="0" y="547218"/>
                    <a:pt x="13458" y="582448"/>
                    <a:pt x="37800" y="609659"/>
                  </a:cubicBezTo>
                  <a:lnTo>
                    <a:pt x="154967" y="740636"/>
                  </a:lnTo>
                  <a:cubicBezTo>
                    <a:pt x="183122" y="772111"/>
                    <a:pt x="223353" y="790101"/>
                    <a:pt x="265584" y="790100"/>
                  </a:cubicBezTo>
                  <a:lnTo>
                    <a:pt x="2316943" y="790100"/>
                  </a:lnTo>
                  <a:cubicBezTo>
                    <a:pt x="2356305" y="790100"/>
                    <a:pt x="2394055" y="774464"/>
                    <a:pt x="2421889" y="746630"/>
                  </a:cubicBezTo>
                  <a:cubicBezTo>
                    <a:pt x="2449722" y="718797"/>
                    <a:pt x="2465359" y="681047"/>
                    <a:pt x="2465359" y="641685"/>
                  </a:cubicBezTo>
                  <a:lnTo>
                    <a:pt x="2465359" y="366141"/>
                  </a:lnTo>
                  <a:cubicBezTo>
                    <a:pt x="2465360" y="329143"/>
                    <a:pt x="2451540" y="293478"/>
                    <a:pt x="2426610" y="266140"/>
                  </a:cubicBezTo>
                  <a:lnTo>
                    <a:pt x="2228067" y="48414"/>
                  </a:lnTo>
                  <a:cubicBezTo>
                    <a:pt x="2199945" y="17574"/>
                    <a:pt x="2160137" y="0"/>
                    <a:pt x="2118400" y="0"/>
                  </a:cubicBezTo>
                  <a:close/>
                </a:path>
              </a:pathLst>
            </a:custGeom>
            <a:solidFill>
              <a:srgbClr val="1473E6"/>
            </a:solidFill>
            <a:ln w="12700">
              <a:solidFill>
                <a:srgbClr val="000000"/>
              </a:solidFill>
            </a:ln>
          </p:spPr>
        </p:sp>
      </p:grpSp>
      <p:grpSp>
        <p:nvGrpSpPr>
          <p:cNvPr name="Group 4" id="4"/>
          <p:cNvGrpSpPr/>
          <p:nvPr/>
        </p:nvGrpSpPr>
        <p:grpSpPr>
          <a:xfrm rot="0">
            <a:off x="666750" y="3657600"/>
            <a:ext cx="8324850" cy="5962650"/>
            <a:chOff x="0" y="0"/>
            <a:chExt cx="1289737" cy="923771"/>
          </a:xfrm>
        </p:grpSpPr>
        <p:sp>
          <p:nvSpPr>
            <p:cNvPr name="Freeform 5" id="5"/>
            <p:cNvSpPr/>
            <p:nvPr/>
          </p:nvSpPr>
          <p:spPr>
            <a:xfrm flipH="false" flipV="false" rot="0">
              <a:off x="0" y="0"/>
              <a:ext cx="1289737" cy="923771"/>
            </a:xfrm>
            <a:custGeom>
              <a:avLst/>
              <a:gdLst/>
              <a:ahLst/>
              <a:cxnLst/>
              <a:rect r="r" b="b" t="t" l="l"/>
              <a:pathLst>
                <a:path h="923771" w="1289737">
                  <a:moveTo>
                    <a:pt x="37199" y="0"/>
                  </a:moveTo>
                  <a:lnTo>
                    <a:pt x="1252538" y="0"/>
                  </a:lnTo>
                  <a:cubicBezTo>
                    <a:pt x="1262404" y="0"/>
                    <a:pt x="1271866" y="3919"/>
                    <a:pt x="1278842" y="10895"/>
                  </a:cubicBezTo>
                  <a:cubicBezTo>
                    <a:pt x="1285818" y="17872"/>
                    <a:pt x="1289737" y="27333"/>
                    <a:pt x="1289737" y="37199"/>
                  </a:cubicBezTo>
                  <a:lnTo>
                    <a:pt x="1289737" y="886571"/>
                  </a:lnTo>
                  <a:cubicBezTo>
                    <a:pt x="1289737" y="896437"/>
                    <a:pt x="1285818" y="905899"/>
                    <a:pt x="1278842" y="912875"/>
                  </a:cubicBezTo>
                  <a:cubicBezTo>
                    <a:pt x="1271866" y="919851"/>
                    <a:pt x="1262404" y="923771"/>
                    <a:pt x="1252538" y="923771"/>
                  </a:cubicBezTo>
                  <a:lnTo>
                    <a:pt x="37199" y="923771"/>
                  </a:lnTo>
                  <a:cubicBezTo>
                    <a:pt x="27333" y="923771"/>
                    <a:pt x="17872" y="919851"/>
                    <a:pt x="10895" y="912875"/>
                  </a:cubicBezTo>
                  <a:cubicBezTo>
                    <a:pt x="3919" y="905899"/>
                    <a:pt x="0" y="896437"/>
                    <a:pt x="0" y="886571"/>
                  </a:cubicBezTo>
                  <a:lnTo>
                    <a:pt x="0" y="37199"/>
                  </a:lnTo>
                  <a:cubicBezTo>
                    <a:pt x="0" y="27333"/>
                    <a:pt x="3919" y="17872"/>
                    <a:pt x="10895" y="10895"/>
                  </a:cubicBezTo>
                  <a:cubicBezTo>
                    <a:pt x="17872" y="3919"/>
                    <a:pt x="27333" y="0"/>
                    <a:pt x="37199" y="0"/>
                  </a:cubicBezTo>
                  <a:close/>
                </a:path>
              </a:pathLst>
            </a:custGeom>
            <a:blipFill>
              <a:blip r:embed="rId2"/>
              <a:stretch>
                <a:fillRect l="-174" t="0" r="-174" b="0"/>
              </a:stretch>
            </a:blipFill>
          </p:spPr>
        </p:sp>
      </p:grpSp>
      <p:sp>
        <p:nvSpPr>
          <p:cNvPr name="TextBox 6" id="6"/>
          <p:cNvSpPr txBox="true"/>
          <p:nvPr/>
        </p:nvSpPr>
        <p:spPr>
          <a:xfrm rot="0">
            <a:off x="1320434" y="1570221"/>
            <a:ext cx="13424266" cy="1035051"/>
          </a:xfrm>
          <a:prstGeom prst="rect">
            <a:avLst/>
          </a:prstGeom>
        </p:spPr>
        <p:txBody>
          <a:bodyPr anchor="t" rtlCol="false" tIns="0" lIns="0" bIns="0" rIns="0">
            <a:spAutoFit/>
          </a:bodyPr>
          <a:lstStyle/>
          <a:p>
            <a:pPr algn="l" marL="0" indent="0" lvl="0">
              <a:lnSpc>
                <a:spcPts val="7600"/>
              </a:lnSpc>
            </a:pPr>
            <a:r>
              <a:rPr lang="en-US" b="true" sz="8000" spc="-440">
                <a:solidFill>
                  <a:srgbClr val="F0F4F8"/>
                </a:solidFill>
                <a:latin typeface="Work Sans Semi-Bold"/>
                <a:ea typeface="Work Sans Semi-Bold"/>
                <a:cs typeface="Work Sans Semi-Bold"/>
                <a:sym typeface="Work Sans Semi-Bold"/>
              </a:rPr>
              <a:t>Thank You</a:t>
            </a:r>
          </a:p>
        </p:txBody>
      </p:sp>
      <p:grpSp>
        <p:nvGrpSpPr>
          <p:cNvPr name="Group 7" id="7"/>
          <p:cNvGrpSpPr/>
          <p:nvPr/>
        </p:nvGrpSpPr>
        <p:grpSpPr>
          <a:xfrm rot="0">
            <a:off x="9315450" y="655177"/>
            <a:ext cx="8324850" cy="8953500"/>
            <a:chOff x="0" y="0"/>
            <a:chExt cx="2448748" cy="2633665"/>
          </a:xfrm>
        </p:grpSpPr>
        <p:sp>
          <p:nvSpPr>
            <p:cNvPr name="Freeform 8" id="8"/>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1473E6"/>
            </a:solidFill>
            <a:ln w="12700">
              <a:solidFill>
                <a:srgbClr val="000000"/>
              </a:solidFill>
            </a:ln>
          </p:spPr>
        </p:sp>
      </p:grpSp>
      <p:grpSp>
        <p:nvGrpSpPr>
          <p:cNvPr name="Group 9" id="9"/>
          <p:cNvGrpSpPr/>
          <p:nvPr/>
        </p:nvGrpSpPr>
        <p:grpSpPr>
          <a:xfrm rot="0">
            <a:off x="10266426" y="1028700"/>
            <a:ext cx="6754683" cy="7697000"/>
            <a:chOff x="0" y="0"/>
            <a:chExt cx="2407228" cy="2743050"/>
          </a:xfrm>
        </p:grpSpPr>
        <p:sp>
          <p:nvSpPr>
            <p:cNvPr name="Freeform 10" id="10"/>
            <p:cNvSpPr/>
            <p:nvPr/>
          </p:nvSpPr>
          <p:spPr>
            <a:xfrm flipH="false" flipV="false" rot="0">
              <a:off x="0" y="0"/>
              <a:ext cx="2407231" cy="2743050"/>
            </a:xfrm>
            <a:custGeom>
              <a:avLst/>
              <a:gdLst/>
              <a:ahLst/>
              <a:cxnLst/>
              <a:rect r="r" b="b" t="t" l="l"/>
              <a:pathLst>
                <a:path h="2743050" w="2407231">
                  <a:moveTo>
                    <a:pt x="2060272" y="0"/>
                  </a:moveTo>
                  <a:lnTo>
                    <a:pt x="148415" y="0"/>
                  </a:lnTo>
                  <a:cubicBezTo>
                    <a:pt x="66448" y="0"/>
                    <a:pt x="0" y="66448"/>
                    <a:pt x="0" y="148415"/>
                  </a:cubicBezTo>
                  <a:lnTo>
                    <a:pt x="0" y="2463658"/>
                  </a:lnTo>
                  <a:cubicBezTo>
                    <a:pt x="0" y="2500169"/>
                    <a:pt x="13458" y="2535398"/>
                    <a:pt x="37800" y="2562610"/>
                  </a:cubicBezTo>
                  <a:lnTo>
                    <a:pt x="154967" y="2693587"/>
                  </a:lnTo>
                  <a:cubicBezTo>
                    <a:pt x="183122" y="2725062"/>
                    <a:pt x="223353" y="2743052"/>
                    <a:pt x="265584" y="2743050"/>
                  </a:cubicBezTo>
                  <a:lnTo>
                    <a:pt x="2258815" y="2743050"/>
                  </a:lnTo>
                  <a:cubicBezTo>
                    <a:pt x="2298177" y="2743051"/>
                    <a:pt x="2335927" y="2727415"/>
                    <a:pt x="2363761" y="2699581"/>
                  </a:cubicBezTo>
                  <a:cubicBezTo>
                    <a:pt x="2391594" y="2671748"/>
                    <a:pt x="2407231" y="2633998"/>
                    <a:pt x="2407231" y="2594636"/>
                  </a:cubicBezTo>
                  <a:lnTo>
                    <a:pt x="2407231" y="366141"/>
                  </a:lnTo>
                  <a:cubicBezTo>
                    <a:pt x="2407232" y="329143"/>
                    <a:pt x="2393412" y="293478"/>
                    <a:pt x="2368482" y="266140"/>
                  </a:cubicBezTo>
                  <a:lnTo>
                    <a:pt x="2169939" y="48414"/>
                  </a:lnTo>
                  <a:cubicBezTo>
                    <a:pt x="2141817" y="17574"/>
                    <a:pt x="2102009" y="0"/>
                    <a:pt x="2060272" y="0"/>
                  </a:cubicBezTo>
                  <a:close/>
                </a:path>
              </a:pathLst>
            </a:custGeom>
            <a:solidFill>
              <a:srgbClr val="F0F4F8"/>
            </a:solidFill>
            <a:ln w="12700">
              <a:solidFill>
                <a:srgbClr val="000000"/>
              </a:solidFill>
            </a:ln>
          </p:spPr>
        </p:sp>
      </p:grpSp>
      <p:sp>
        <p:nvSpPr>
          <p:cNvPr name="TextBox 11" id="11"/>
          <p:cNvSpPr txBox="true"/>
          <p:nvPr/>
        </p:nvSpPr>
        <p:spPr>
          <a:xfrm rot="0">
            <a:off x="9537736" y="1304834"/>
            <a:ext cx="7842177" cy="7692285"/>
          </a:xfrm>
          <a:prstGeom prst="rect">
            <a:avLst/>
          </a:prstGeom>
        </p:spPr>
        <p:txBody>
          <a:bodyPr anchor="t" rtlCol="false" tIns="0" lIns="0" bIns="0" rIns="0">
            <a:spAutoFit/>
          </a:bodyPr>
          <a:lstStyle/>
          <a:p>
            <a:pPr algn="ctr">
              <a:lnSpc>
                <a:spcPts val="5095"/>
              </a:lnSpc>
            </a:pPr>
            <a:r>
              <a:rPr lang="en-US" b="true" sz="5095" spc="-280">
                <a:solidFill>
                  <a:srgbClr val="000000"/>
                </a:solidFill>
                <a:latin typeface="Work Sans Bold"/>
                <a:ea typeface="Work Sans Bold"/>
                <a:cs typeface="Work Sans Bold"/>
                <a:sym typeface="Work Sans Bold"/>
              </a:rPr>
              <a:t>Team Members</a:t>
            </a:r>
          </a:p>
          <a:p>
            <a:pPr algn="ctr">
              <a:lnSpc>
                <a:spcPts val="5095"/>
              </a:lnSpc>
            </a:pPr>
          </a:p>
          <a:p>
            <a:pPr algn="ctr">
              <a:lnSpc>
                <a:spcPts val="5095"/>
              </a:lnSpc>
            </a:pPr>
            <a:r>
              <a:rPr lang="en-US" b="true" sz="5095" spc="-280">
                <a:solidFill>
                  <a:srgbClr val="000000"/>
                </a:solidFill>
                <a:latin typeface="Work Sans Bold"/>
                <a:ea typeface="Work Sans Bold"/>
                <a:cs typeface="Work Sans Bold"/>
                <a:sym typeface="Work Sans Bold"/>
              </a:rPr>
              <a:t>S. Prabhas</a:t>
            </a:r>
          </a:p>
          <a:p>
            <a:pPr algn="ctr">
              <a:lnSpc>
                <a:spcPts val="5095"/>
              </a:lnSpc>
            </a:pPr>
          </a:p>
          <a:p>
            <a:pPr algn="ctr">
              <a:lnSpc>
                <a:spcPts val="5095"/>
              </a:lnSpc>
            </a:pPr>
            <a:r>
              <a:rPr lang="en-US" b="true" sz="5095" spc="-280">
                <a:solidFill>
                  <a:srgbClr val="000000"/>
                </a:solidFill>
                <a:latin typeface="Work Sans Bold"/>
                <a:ea typeface="Work Sans Bold"/>
                <a:cs typeface="Work Sans Bold"/>
                <a:sym typeface="Work Sans Bold"/>
              </a:rPr>
              <a:t>B. Tarun Kumar</a:t>
            </a:r>
          </a:p>
          <a:p>
            <a:pPr algn="ctr">
              <a:lnSpc>
                <a:spcPts val="5095"/>
              </a:lnSpc>
            </a:pPr>
          </a:p>
          <a:p>
            <a:pPr algn="ctr">
              <a:lnSpc>
                <a:spcPts val="5095"/>
              </a:lnSpc>
            </a:pPr>
            <a:r>
              <a:rPr lang="en-US" b="true" sz="5095" spc="-280">
                <a:solidFill>
                  <a:srgbClr val="000000"/>
                </a:solidFill>
                <a:latin typeface="Work Sans Bold"/>
                <a:ea typeface="Work Sans Bold"/>
                <a:cs typeface="Work Sans Bold"/>
                <a:sym typeface="Work Sans Bold"/>
              </a:rPr>
              <a:t>D. Vamshi</a:t>
            </a:r>
          </a:p>
          <a:p>
            <a:pPr algn="ctr">
              <a:lnSpc>
                <a:spcPts val="5095"/>
              </a:lnSpc>
            </a:pPr>
          </a:p>
          <a:p>
            <a:pPr algn="ctr">
              <a:lnSpc>
                <a:spcPts val="5095"/>
              </a:lnSpc>
            </a:pPr>
            <a:r>
              <a:rPr lang="en-US" b="true" sz="5095" spc="-280">
                <a:solidFill>
                  <a:srgbClr val="000000"/>
                </a:solidFill>
                <a:latin typeface="Work Sans Bold"/>
                <a:ea typeface="Work Sans Bold"/>
                <a:cs typeface="Work Sans Bold"/>
                <a:sym typeface="Work Sans Bold"/>
              </a:rPr>
              <a:t>N. Jagadish</a:t>
            </a:r>
          </a:p>
          <a:p>
            <a:pPr algn="ctr">
              <a:lnSpc>
                <a:spcPts val="5095"/>
              </a:lnSpc>
            </a:pPr>
          </a:p>
          <a:p>
            <a:pPr algn="ctr">
              <a:lnSpc>
                <a:spcPts val="5095"/>
              </a:lnSpc>
            </a:pPr>
            <a:r>
              <a:rPr lang="en-US" b="true" sz="5095" spc="-280">
                <a:solidFill>
                  <a:srgbClr val="000000"/>
                </a:solidFill>
                <a:latin typeface="Work Sans Bold"/>
                <a:ea typeface="Work Sans Bold"/>
                <a:cs typeface="Work Sans Bold"/>
                <a:sym typeface="Work Sans Bold"/>
              </a:rPr>
              <a:t>P. Shashank</a:t>
            </a:r>
          </a:p>
          <a:p>
            <a:pPr algn="ctr">
              <a:lnSpc>
                <a:spcPts val="5095"/>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DAG7OhSSHHI</dc:identifier>
  <dcterms:modified xsi:type="dcterms:W3CDTF">2011-08-01T06:04:30Z</dcterms:modified>
  <cp:revision>1</cp:revision>
  <dc:title>Many students face heavy workloads, tight deadlines, and constant distractions, which reduce productivity and increase stress. Finding an efficient and organized study method is essential for academic success.</dc:title>
</cp:coreProperties>
</file>